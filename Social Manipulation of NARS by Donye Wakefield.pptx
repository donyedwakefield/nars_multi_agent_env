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oboto"/>
      <p:regular r:id="rId20"/>
      <p:bold r:id="rId21"/>
      <p:italic r:id="rId22"/>
      <p:boldItalic r:id="rId23"/>
    </p:embeddedFont>
    <p:embeddedFont>
      <p:font typeface="Merriweather"/>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Merriweather-regular.fntdata"/><Relationship Id="rId23"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erriweather-italic.fntdata"/><Relationship Id="rId25" Type="http://schemas.openxmlformats.org/officeDocument/2006/relationships/font" Target="fonts/Merriweather-bold.fntdata"/><Relationship Id="rId27" Type="http://schemas.openxmlformats.org/officeDocument/2006/relationships/font" Target="fonts/Merriweather-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2"/>
              </a:buClr>
              <a:buSzPts val="1600"/>
              <a:buNone/>
              <a:defRPr sz="1600">
                <a:solidFill>
                  <a:schemeClr val="lt2"/>
                </a:solidFill>
              </a:defRPr>
            </a:lvl1pPr>
            <a:lvl2pPr lvl="1" algn="l">
              <a:lnSpc>
                <a:spcPct val="100000"/>
              </a:lnSpc>
              <a:spcBef>
                <a:spcPts val="0"/>
              </a:spcBef>
              <a:spcAft>
                <a:spcPts val="0"/>
              </a:spcAft>
              <a:buClr>
                <a:schemeClr val="lt2"/>
              </a:buClr>
              <a:buSzPts val="1600"/>
              <a:buNone/>
              <a:defRPr sz="1600">
                <a:solidFill>
                  <a:schemeClr val="lt2"/>
                </a:solidFill>
              </a:defRPr>
            </a:lvl2pPr>
            <a:lvl3pPr lvl="2" algn="l">
              <a:lnSpc>
                <a:spcPct val="100000"/>
              </a:lnSpc>
              <a:spcBef>
                <a:spcPts val="0"/>
              </a:spcBef>
              <a:spcAft>
                <a:spcPts val="0"/>
              </a:spcAft>
              <a:buClr>
                <a:schemeClr val="lt2"/>
              </a:buClr>
              <a:buSzPts val="1600"/>
              <a:buNone/>
              <a:defRPr sz="1600">
                <a:solidFill>
                  <a:schemeClr val="lt2"/>
                </a:solidFill>
              </a:defRPr>
            </a:lvl3pPr>
            <a:lvl4pPr lvl="3" algn="l">
              <a:lnSpc>
                <a:spcPct val="100000"/>
              </a:lnSpc>
              <a:spcBef>
                <a:spcPts val="0"/>
              </a:spcBef>
              <a:spcAft>
                <a:spcPts val="0"/>
              </a:spcAft>
              <a:buClr>
                <a:schemeClr val="lt2"/>
              </a:buClr>
              <a:buSzPts val="1600"/>
              <a:buNone/>
              <a:defRPr sz="1600">
                <a:solidFill>
                  <a:schemeClr val="lt2"/>
                </a:solidFill>
              </a:defRPr>
            </a:lvl4pPr>
            <a:lvl5pPr lvl="4" algn="l">
              <a:lnSpc>
                <a:spcPct val="100000"/>
              </a:lnSpc>
              <a:spcBef>
                <a:spcPts val="0"/>
              </a:spcBef>
              <a:spcAft>
                <a:spcPts val="0"/>
              </a:spcAft>
              <a:buClr>
                <a:schemeClr val="lt2"/>
              </a:buClr>
              <a:buSzPts val="1600"/>
              <a:buNone/>
              <a:defRPr sz="1600">
                <a:solidFill>
                  <a:schemeClr val="lt2"/>
                </a:solidFill>
              </a:defRPr>
            </a:lvl5pPr>
            <a:lvl6pPr lvl="5" algn="l">
              <a:lnSpc>
                <a:spcPct val="100000"/>
              </a:lnSpc>
              <a:spcBef>
                <a:spcPts val="0"/>
              </a:spcBef>
              <a:spcAft>
                <a:spcPts val="0"/>
              </a:spcAft>
              <a:buClr>
                <a:schemeClr val="lt2"/>
              </a:buClr>
              <a:buSzPts val="1600"/>
              <a:buNone/>
              <a:defRPr sz="1600">
                <a:solidFill>
                  <a:schemeClr val="lt2"/>
                </a:solidFill>
              </a:defRPr>
            </a:lvl6pPr>
            <a:lvl7pPr lvl="6" algn="l">
              <a:lnSpc>
                <a:spcPct val="100000"/>
              </a:lnSpc>
              <a:spcBef>
                <a:spcPts val="0"/>
              </a:spcBef>
              <a:spcAft>
                <a:spcPts val="0"/>
              </a:spcAft>
              <a:buClr>
                <a:schemeClr val="lt2"/>
              </a:buClr>
              <a:buSzPts val="1600"/>
              <a:buNone/>
              <a:defRPr sz="1600">
                <a:solidFill>
                  <a:schemeClr val="lt2"/>
                </a:solidFill>
              </a:defRPr>
            </a:lvl7pPr>
            <a:lvl8pPr lvl="7" algn="l">
              <a:lnSpc>
                <a:spcPct val="100000"/>
              </a:lnSpc>
              <a:spcBef>
                <a:spcPts val="0"/>
              </a:spcBef>
              <a:spcAft>
                <a:spcPts val="0"/>
              </a:spcAft>
              <a:buClr>
                <a:schemeClr val="lt2"/>
              </a:buClr>
              <a:buSzPts val="1600"/>
              <a:buNone/>
              <a:defRPr sz="1600">
                <a:solidFill>
                  <a:schemeClr val="lt2"/>
                </a:solidFill>
              </a:defRPr>
            </a:lvl8pPr>
            <a:lvl9pPr lvl="8" algn="l">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3"/>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3"/>
          <p:cNvSpPr/>
          <p:nvPr/>
        </p:nvSpPr>
        <p:spPr>
          <a:xfrm>
            <a:off x="0" y="44125"/>
            <a:ext cx="4313625" cy="4399375"/>
          </a:xfrm>
          <a:custGeom>
            <a:rect b="b" l="l" r="r" t="t"/>
            <a:pathLst>
              <a:path extrusionOk="0" h="175975" w="172545">
                <a:moveTo>
                  <a:pt x="0" y="157"/>
                </a:moveTo>
                <a:lnTo>
                  <a:pt x="172419" y="0"/>
                </a:lnTo>
                <a:lnTo>
                  <a:pt x="172545" y="126541"/>
                </a:lnTo>
                <a:lnTo>
                  <a:pt x="0" y="175975"/>
                </a:lnTo>
                <a:close/>
              </a:path>
            </a:pathLst>
          </a:custGeom>
          <a:solidFill>
            <a:schemeClr val="accent2"/>
          </a:solidFill>
          <a:ln>
            <a:noFill/>
          </a:ln>
        </p:spPr>
      </p:sp>
      <p:sp>
        <p:nvSpPr>
          <p:cNvPr id="17" name="Google Shape;17;p3"/>
          <p:cNvSpPr/>
          <p:nvPr/>
        </p:nvSpPr>
        <p:spPr>
          <a:xfrm>
            <a:off x="-125" y="0"/>
            <a:ext cx="4316900" cy="4395600"/>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8" name="Google Shape;18;p3"/>
          <p:cNvSpPr txBox="1"/>
          <p:nvPr>
            <p:ph type="title"/>
          </p:nvPr>
        </p:nvSpPr>
        <p:spPr>
          <a:xfrm>
            <a:off x="311725" y="500925"/>
            <a:ext cx="3706500" cy="2508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19" name="Google Shape;19;p3"/>
          <p:cNvSpPr txBox="1"/>
          <p:nvPr>
            <p:ph idx="1" type="body"/>
          </p:nvPr>
        </p:nvSpPr>
        <p:spPr>
          <a:xfrm>
            <a:off x="4644675" y="500925"/>
            <a:ext cx="4166400" cy="4098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20" name="Google Shape;20;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1" name="Shape 21"/>
        <p:cNvGrpSpPr/>
        <p:nvPr/>
      </p:nvGrpSpPr>
      <p:grpSpPr>
        <a:xfrm>
          <a:off x="0" y="0"/>
          <a:ext cx="0" cy="0"/>
          <a:chOff x="0" y="0"/>
          <a:chExt cx="0" cy="0"/>
        </a:xfrm>
      </p:grpSpPr>
      <p:sp>
        <p:nvSpPr>
          <p:cNvPr id="22" name="Google Shape;22;p4"/>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4"/>
          <p:cNvSpPr txBox="1"/>
          <p:nvPr>
            <p:ph idx="1" type="body"/>
          </p:nvPr>
        </p:nvSpPr>
        <p:spPr>
          <a:xfrm>
            <a:off x="311700" y="4521400"/>
            <a:ext cx="7979400" cy="4605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24" name="Google Shape;24;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 name="Shape 25"/>
        <p:cNvGrpSpPr/>
        <p:nvPr/>
      </p:nvGrpSpPr>
      <p:grpSpPr>
        <a:xfrm>
          <a:off x="0" y="0"/>
          <a:ext cx="0" cy="0"/>
          <a:chOff x="0" y="0"/>
          <a:chExt cx="0" cy="0"/>
        </a:xfrm>
      </p:grpSpPr>
      <p:sp>
        <p:nvSpPr>
          <p:cNvPr id="26" name="Google Shape;26;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7" name="Shape 27"/>
        <p:cNvGrpSpPr/>
        <p:nvPr/>
      </p:nvGrpSpPr>
      <p:grpSpPr>
        <a:xfrm>
          <a:off x="0" y="0"/>
          <a:ext cx="0" cy="0"/>
          <a:chOff x="0" y="0"/>
          <a:chExt cx="0" cy="0"/>
        </a:xfrm>
      </p:grpSpPr>
      <p:sp>
        <p:nvSpPr>
          <p:cNvPr id="28" name="Google Shape;28;p6"/>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6"/>
          <p:cNvSpPr txBox="1"/>
          <p:nvPr>
            <p:ph type="title"/>
          </p:nvPr>
        </p:nvSpPr>
        <p:spPr>
          <a:xfrm>
            <a:off x="311300" y="500925"/>
            <a:ext cx="3704400" cy="2049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30" name="Google Shape;30;p6"/>
          <p:cNvSpPr txBox="1"/>
          <p:nvPr>
            <p:ph idx="1" type="subTitle"/>
          </p:nvPr>
        </p:nvSpPr>
        <p:spPr>
          <a:xfrm>
            <a:off x="304800" y="2626725"/>
            <a:ext cx="3704400" cy="926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accent2"/>
              </a:buClr>
              <a:buSzPts val="1600"/>
              <a:buNone/>
              <a:defRPr sz="1600">
                <a:solidFill>
                  <a:schemeClr val="accent2"/>
                </a:solidFill>
              </a:defRPr>
            </a:lvl1pPr>
            <a:lvl2pPr lvl="1" algn="l">
              <a:lnSpc>
                <a:spcPct val="100000"/>
              </a:lnSpc>
              <a:spcBef>
                <a:spcPts val="0"/>
              </a:spcBef>
              <a:spcAft>
                <a:spcPts val="0"/>
              </a:spcAft>
              <a:buClr>
                <a:schemeClr val="accent2"/>
              </a:buClr>
              <a:buSzPts val="1600"/>
              <a:buNone/>
              <a:defRPr sz="1600">
                <a:solidFill>
                  <a:schemeClr val="accent2"/>
                </a:solidFill>
              </a:defRPr>
            </a:lvl2pPr>
            <a:lvl3pPr lvl="2" algn="l">
              <a:lnSpc>
                <a:spcPct val="100000"/>
              </a:lnSpc>
              <a:spcBef>
                <a:spcPts val="0"/>
              </a:spcBef>
              <a:spcAft>
                <a:spcPts val="0"/>
              </a:spcAft>
              <a:buClr>
                <a:schemeClr val="accent2"/>
              </a:buClr>
              <a:buSzPts val="1600"/>
              <a:buNone/>
              <a:defRPr sz="1600">
                <a:solidFill>
                  <a:schemeClr val="accent2"/>
                </a:solidFill>
              </a:defRPr>
            </a:lvl3pPr>
            <a:lvl4pPr lvl="3" algn="l">
              <a:lnSpc>
                <a:spcPct val="100000"/>
              </a:lnSpc>
              <a:spcBef>
                <a:spcPts val="0"/>
              </a:spcBef>
              <a:spcAft>
                <a:spcPts val="0"/>
              </a:spcAft>
              <a:buClr>
                <a:schemeClr val="accent2"/>
              </a:buClr>
              <a:buSzPts val="1600"/>
              <a:buNone/>
              <a:defRPr sz="1600">
                <a:solidFill>
                  <a:schemeClr val="accent2"/>
                </a:solidFill>
              </a:defRPr>
            </a:lvl4pPr>
            <a:lvl5pPr lvl="4" algn="l">
              <a:lnSpc>
                <a:spcPct val="100000"/>
              </a:lnSpc>
              <a:spcBef>
                <a:spcPts val="0"/>
              </a:spcBef>
              <a:spcAft>
                <a:spcPts val="0"/>
              </a:spcAft>
              <a:buClr>
                <a:schemeClr val="accent2"/>
              </a:buClr>
              <a:buSzPts val="1600"/>
              <a:buNone/>
              <a:defRPr sz="1600">
                <a:solidFill>
                  <a:schemeClr val="accent2"/>
                </a:solidFill>
              </a:defRPr>
            </a:lvl5pPr>
            <a:lvl6pPr lvl="5" algn="l">
              <a:lnSpc>
                <a:spcPct val="100000"/>
              </a:lnSpc>
              <a:spcBef>
                <a:spcPts val="0"/>
              </a:spcBef>
              <a:spcAft>
                <a:spcPts val="0"/>
              </a:spcAft>
              <a:buClr>
                <a:schemeClr val="accent2"/>
              </a:buClr>
              <a:buSzPts val="1600"/>
              <a:buNone/>
              <a:defRPr sz="1600">
                <a:solidFill>
                  <a:schemeClr val="accent2"/>
                </a:solidFill>
              </a:defRPr>
            </a:lvl6pPr>
            <a:lvl7pPr lvl="6" algn="l">
              <a:lnSpc>
                <a:spcPct val="100000"/>
              </a:lnSpc>
              <a:spcBef>
                <a:spcPts val="0"/>
              </a:spcBef>
              <a:spcAft>
                <a:spcPts val="0"/>
              </a:spcAft>
              <a:buClr>
                <a:schemeClr val="accent2"/>
              </a:buClr>
              <a:buSzPts val="1600"/>
              <a:buNone/>
              <a:defRPr sz="1600">
                <a:solidFill>
                  <a:schemeClr val="accent2"/>
                </a:solidFill>
              </a:defRPr>
            </a:lvl7pPr>
            <a:lvl8pPr lvl="7" algn="l">
              <a:lnSpc>
                <a:spcPct val="100000"/>
              </a:lnSpc>
              <a:spcBef>
                <a:spcPts val="0"/>
              </a:spcBef>
              <a:spcAft>
                <a:spcPts val="0"/>
              </a:spcAft>
              <a:buClr>
                <a:schemeClr val="accent2"/>
              </a:buClr>
              <a:buSzPts val="1600"/>
              <a:buNone/>
              <a:defRPr sz="1600">
                <a:solidFill>
                  <a:schemeClr val="accent2"/>
                </a:solidFill>
              </a:defRPr>
            </a:lvl8pPr>
            <a:lvl9pPr lvl="8" algn="l">
              <a:lnSpc>
                <a:spcPct val="100000"/>
              </a:lnSpc>
              <a:spcBef>
                <a:spcPts val="0"/>
              </a:spcBef>
              <a:spcAft>
                <a:spcPts val="0"/>
              </a:spcAft>
              <a:buClr>
                <a:schemeClr val="accent2"/>
              </a:buClr>
              <a:buSzPts val="1600"/>
              <a:buNone/>
              <a:defRPr sz="1600">
                <a:solidFill>
                  <a:schemeClr val="accent2"/>
                </a:solidFill>
              </a:defRPr>
            </a:lvl9pPr>
          </a:lstStyle>
          <a:p/>
        </p:txBody>
      </p:sp>
      <p:sp>
        <p:nvSpPr>
          <p:cNvPr id="31" name="Google Shape;31;p6"/>
          <p:cNvSpPr txBox="1"/>
          <p:nvPr>
            <p:ph idx="2" type="body"/>
          </p:nvPr>
        </p:nvSpPr>
        <p:spPr>
          <a:xfrm>
            <a:off x="4879025" y="500925"/>
            <a:ext cx="3954000" cy="4111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32" name="Google Shape;32;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3" name="Shape 33"/>
        <p:cNvGrpSpPr/>
        <p:nvPr/>
      </p:nvGrpSpPr>
      <p:grpSpPr>
        <a:xfrm>
          <a:off x="0" y="0"/>
          <a:ext cx="0" cy="0"/>
          <a:chOff x="0" y="0"/>
          <a:chExt cx="0" cy="0"/>
        </a:xfrm>
      </p:grpSpPr>
      <p:sp>
        <p:nvSpPr>
          <p:cNvPr id="34" name="Google Shape;34;p7"/>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35" name="Google Shape;35;p7"/>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36" name="Google Shape;36;p7"/>
          <p:cNvSpPr txBox="1"/>
          <p:nvPr>
            <p:ph type="title"/>
          </p:nvPr>
        </p:nvSpPr>
        <p:spPr>
          <a:xfrm>
            <a:off x="311700" y="539725"/>
            <a:ext cx="8520600" cy="1282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37" name="Google Shape;3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8" name="Shape 38"/>
        <p:cNvGrpSpPr/>
        <p:nvPr/>
      </p:nvGrpSpPr>
      <p:grpSpPr>
        <a:xfrm>
          <a:off x="0" y="0"/>
          <a:ext cx="0" cy="0"/>
          <a:chOff x="0" y="0"/>
          <a:chExt cx="0" cy="0"/>
        </a:xfrm>
      </p:grpSpPr>
      <p:sp>
        <p:nvSpPr>
          <p:cNvPr id="39" name="Google Shape;39;p8"/>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8"/>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41" name="Google Shape;41;p8"/>
          <p:cNvSpPr txBox="1"/>
          <p:nvPr>
            <p:ph idx="1" type="body"/>
          </p:nvPr>
        </p:nvSpPr>
        <p:spPr>
          <a:xfrm>
            <a:off x="311700" y="1505700"/>
            <a:ext cx="3999900" cy="3076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2" name="Google Shape;42;p8"/>
          <p:cNvSpPr txBox="1"/>
          <p:nvPr>
            <p:ph idx="2" type="body"/>
          </p:nvPr>
        </p:nvSpPr>
        <p:spPr>
          <a:xfrm>
            <a:off x="4832400" y="1505700"/>
            <a:ext cx="3999900" cy="30762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43" name="Google Shape;4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p9"/>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9"/>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8" name="Shape 48"/>
        <p:cNvGrpSpPr/>
        <p:nvPr/>
      </p:nvGrpSpPr>
      <p:grpSpPr>
        <a:xfrm>
          <a:off x="0" y="0"/>
          <a:ext cx="0" cy="0"/>
          <a:chOff x="0" y="0"/>
          <a:chExt cx="0" cy="0"/>
        </a:xfrm>
      </p:grpSpPr>
      <p:sp>
        <p:nvSpPr>
          <p:cNvPr id="49" name="Google Shape;49;p10"/>
          <p:cNvSpPr/>
          <p:nvPr/>
        </p:nvSpPr>
        <p:spPr>
          <a:xfrm>
            <a:off x="0" y="0"/>
            <a:ext cx="3764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10"/>
          <p:cNvSpPr txBox="1"/>
          <p:nvPr>
            <p:ph type="title"/>
          </p:nvPr>
        </p:nvSpPr>
        <p:spPr>
          <a:xfrm>
            <a:off x="311725" y="500925"/>
            <a:ext cx="3127500" cy="18291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51" name="Google Shape;51;p10"/>
          <p:cNvSpPr txBox="1"/>
          <p:nvPr>
            <p:ph idx="1" type="body"/>
          </p:nvPr>
        </p:nvSpPr>
        <p:spPr>
          <a:xfrm>
            <a:off x="311700" y="2390650"/>
            <a:ext cx="3127500" cy="229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accent2"/>
              </a:buClr>
              <a:buSzPts val="1300"/>
              <a:buChar char="●"/>
              <a:defRPr>
                <a:solidFill>
                  <a:schemeClr val="accent2"/>
                </a:solidFill>
              </a:defRPr>
            </a:lvl1pPr>
            <a:lvl2pPr indent="-298450" lvl="1" marL="914400" algn="l">
              <a:lnSpc>
                <a:spcPct val="115000"/>
              </a:lnSpc>
              <a:spcBef>
                <a:spcPts val="0"/>
              </a:spcBef>
              <a:spcAft>
                <a:spcPts val="0"/>
              </a:spcAft>
              <a:buClr>
                <a:schemeClr val="accent2"/>
              </a:buClr>
              <a:buSzPts val="1100"/>
              <a:buChar char="○"/>
              <a:defRPr>
                <a:solidFill>
                  <a:schemeClr val="accent2"/>
                </a:solidFill>
              </a:defRPr>
            </a:lvl2pPr>
            <a:lvl3pPr indent="-298450" lvl="2" marL="1371600" algn="l">
              <a:lnSpc>
                <a:spcPct val="115000"/>
              </a:lnSpc>
              <a:spcBef>
                <a:spcPts val="0"/>
              </a:spcBef>
              <a:spcAft>
                <a:spcPts val="0"/>
              </a:spcAft>
              <a:buClr>
                <a:schemeClr val="accent2"/>
              </a:buClr>
              <a:buSzPts val="1100"/>
              <a:buChar char="■"/>
              <a:defRPr>
                <a:solidFill>
                  <a:schemeClr val="accent2"/>
                </a:solidFill>
              </a:defRPr>
            </a:lvl3pPr>
            <a:lvl4pPr indent="-298450" lvl="3" marL="1828800" algn="l">
              <a:lnSpc>
                <a:spcPct val="115000"/>
              </a:lnSpc>
              <a:spcBef>
                <a:spcPts val="0"/>
              </a:spcBef>
              <a:spcAft>
                <a:spcPts val="0"/>
              </a:spcAft>
              <a:buClr>
                <a:schemeClr val="accent2"/>
              </a:buClr>
              <a:buSzPts val="1100"/>
              <a:buChar char="●"/>
              <a:defRPr>
                <a:solidFill>
                  <a:schemeClr val="accent2"/>
                </a:solidFill>
              </a:defRPr>
            </a:lvl4pPr>
            <a:lvl5pPr indent="-298450" lvl="4" marL="2286000" algn="l">
              <a:lnSpc>
                <a:spcPct val="115000"/>
              </a:lnSpc>
              <a:spcBef>
                <a:spcPts val="0"/>
              </a:spcBef>
              <a:spcAft>
                <a:spcPts val="0"/>
              </a:spcAft>
              <a:buClr>
                <a:schemeClr val="accent2"/>
              </a:buClr>
              <a:buSzPts val="1100"/>
              <a:buChar char="○"/>
              <a:defRPr>
                <a:solidFill>
                  <a:schemeClr val="accent2"/>
                </a:solidFill>
              </a:defRPr>
            </a:lvl5pPr>
            <a:lvl6pPr indent="-298450" lvl="5" marL="2743200" algn="l">
              <a:lnSpc>
                <a:spcPct val="115000"/>
              </a:lnSpc>
              <a:spcBef>
                <a:spcPts val="0"/>
              </a:spcBef>
              <a:spcAft>
                <a:spcPts val="0"/>
              </a:spcAft>
              <a:buClr>
                <a:schemeClr val="accent2"/>
              </a:buClr>
              <a:buSzPts val="1100"/>
              <a:buChar char="■"/>
              <a:defRPr>
                <a:solidFill>
                  <a:schemeClr val="accent2"/>
                </a:solidFill>
              </a:defRPr>
            </a:lvl6pPr>
            <a:lvl7pPr indent="-298450" lvl="6" marL="3200400" algn="l">
              <a:lnSpc>
                <a:spcPct val="115000"/>
              </a:lnSpc>
              <a:spcBef>
                <a:spcPts val="0"/>
              </a:spcBef>
              <a:spcAft>
                <a:spcPts val="0"/>
              </a:spcAft>
              <a:buClr>
                <a:schemeClr val="accent2"/>
              </a:buClr>
              <a:buSzPts val="1100"/>
              <a:buChar char="●"/>
              <a:defRPr>
                <a:solidFill>
                  <a:schemeClr val="accent2"/>
                </a:solidFill>
              </a:defRPr>
            </a:lvl7pPr>
            <a:lvl8pPr indent="-298450" lvl="7" marL="3657600" algn="l">
              <a:lnSpc>
                <a:spcPct val="115000"/>
              </a:lnSpc>
              <a:spcBef>
                <a:spcPts val="0"/>
              </a:spcBef>
              <a:spcAft>
                <a:spcPts val="0"/>
              </a:spcAft>
              <a:buClr>
                <a:schemeClr val="accent2"/>
              </a:buClr>
              <a:buSzPts val="1100"/>
              <a:buChar char="○"/>
              <a:defRPr>
                <a:solidFill>
                  <a:schemeClr val="accent2"/>
                </a:solidFill>
              </a:defRPr>
            </a:lvl8pPr>
            <a:lvl9pPr indent="-298450" lvl="8" marL="4114800" algn="l">
              <a:lnSpc>
                <a:spcPct val="115000"/>
              </a:lnSpc>
              <a:spcBef>
                <a:spcPts val="0"/>
              </a:spcBef>
              <a:spcAft>
                <a:spcPts val="0"/>
              </a:spcAft>
              <a:buClr>
                <a:schemeClr val="accent2"/>
              </a:buClr>
              <a:buSzPts val="1100"/>
              <a:buChar char="■"/>
              <a:defRPr>
                <a:solidFill>
                  <a:schemeClr val="accent2"/>
                </a:solidFill>
              </a:defRPr>
            </a:lvl9pPr>
          </a:lstStyle>
          <a:p/>
        </p:txBody>
      </p:sp>
      <p:sp>
        <p:nvSpPr>
          <p:cNvPr id="52" name="Google Shape;5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3" name="Shape 53"/>
        <p:cNvGrpSpPr/>
        <p:nvPr/>
      </p:nvGrpSpPr>
      <p:grpSpPr>
        <a:xfrm>
          <a:off x="0" y="0"/>
          <a:ext cx="0" cy="0"/>
          <a:chOff x="0" y="0"/>
          <a:chExt cx="0" cy="0"/>
        </a:xfrm>
      </p:grpSpPr>
      <p:sp>
        <p:nvSpPr>
          <p:cNvPr id="54" name="Google Shape;54;p11"/>
          <p:cNvSpPr txBox="1"/>
          <p:nvPr>
            <p:ph type="title"/>
          </p:nvPr>
        </p:nvSpPr>
        <p:spPr>
          <a:xfrm>
            <a:off x="311675" y="798600"/>
            <a:ext cx="6247800" cy="3546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55" name="Google Shape;55;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6" name="Shape 56"/>
        <p:cNvGrpSpPr/>
        <p:nvPr/>
      </p:nvGrpSpPr>
      <p:grpSpPr>
        <a:xfrm>
          <a:off x="0" y="0"/>
          <a:ext cx="0" cy="0"/>
          <a:chOff x="0" y="0"/>
          <a:chExt cx="0" cy="0"/>
        </a:xfrm>
      </p:grpSpPr>
      <p:sp>
        <p:nvSpPr>
          <p:cNvPr id="57" name="Google Shape;57;p12"/>
          <p:cNvSpPr txBox="1"/>
          <p:nvPr>
            <p:ph hasCustomPrompt="1" type="title"/>
          </p:nvPr>
        </p:nvSpPr>
        <p:spPr>
          <a:xfrm>
            <a:off x="311750" y="831175"/>
            <a:ext cx="5334900" cy="1244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10000"/>
              <a:buNone/>
              <a:defRPr sz="10000">
                <a:solidFill>
                  <a:schemeClr val="lt1"/>
                </a:solidFill>
              </a:defRPr>
            </a:lvl1pPr>
            <a:lvl2pPr lvl="1" algn="l">
              <a:lnSpc>
                <a:spcPct val="100000"/>
              </a:lnSpc>
              <a:spcBef>
                <a:spcPts val="0"/>
              </a:spcBef>
              <a:spcAft>
                <a:spcPts val="0"/>
              </a:spcAft>
              <a:buClr>
                <a:schemeClr val="lt1"/>
              </a:buClr>
              <a:buSzPts val="10000"/>
              <a:buNone/>
              <a:defRPr sz="10000">
                <a:solidFill>
                  <a:schemeClr val="lt1"/>
                </a:solidFill>
              </a:defRPr>
            </a:lvl2pPr>
            <a:lvl3pPr lvl="2" algn="l">
              <a:lnSpc>
                <a:spcPct val="100000"/>
              </a:lnSpc>
              <a:spcBef>
                <a:spcPts val="0"/>
              </a:spcBef>
              <a:spcAft>
                <a:spcPts val="0"/>
              </a:spcAft>
              <a:buClr>
                <a:schemeClr val="lt1"/>
              </a:buClr>
              <a:buSzPts val="10000"/>
              <a:buNone/>
              <a:defRPr sz="10000">
                <a:solidFill>
                  <a:schemeClr val="lt1"/>
                </a:solidFill>
              </a:defRPr>
            </a:lvl3pPr>
            <a:lvl4pPr lvl="3" algn="l">
              <a:lnSpc>
                <a:spcPct val="100000"/>
              </a:lnSpc>
              <a:spcBef>
                <a:spcPts val="0"/>
              </a:spcBef>
              <a:spcAft>
                <a:spcPts val="0"/>
              </a:spcAft>
              <a:buClr>
                <a:schemeClr val="lt1"/>
              </a:buClr>
              <a:buSzPts val="10000"/>
              <a:buNone/>
              <a:defRPr sz="10000">
                <a:solidFill>
                  <a:schemeClr val="lt1"/>
                </a:solidFill>
              </a:defRPr>
            </a:lvl4pPr>
            <a:lvl5pPr lvl="4" algn="l">
              <a:lnSpc>
                <a:spcPct val="100000"/>
              </a:lnSpc>
              <a:spcBef>
                <a:spcPts val="0"/>
              </a:spcBef>
              <a:spcAft>
                <a:spcPts val="0"/>
              </a:spcAft>
              <a:buClr>
                <a:schemeClr val="lt1"/>
              </a:buClr>
              <a:buSzPts val="10000"/>
              <a:buNone/>
              <a:defRPr sz="10000">
                <a:solidFill>
                  <a:schemeClr val="lt1"/>
                </a:solidFill>
              </a:defRPr>
            </a:lvl5pPr>
            <a:lvl6pPr lvl="5" algn="l">
              <a:lnSpc>
                <a:spcPct val="100000"/>
              </a:lnSpc>
              <a:spcBef>
                <a:spcPts val="0"/>
              </a:spcBef>
              <a:spcAft>
                <a:spcPts val="0"/>
              </a:spcAft>
              <a:buClr>
                <a:schemeClr val="lt1"/>
              </a:buClr>
              <a:buSzPts val="10000"/>
              <a:buNone/>
              <a:defRPr sz="10000">
                <a:solidFill>
                  <a:schemeClr val="lt1"/>
                </a:solidFill>
              </a:defRPr>
            </a:lvl6pPr>
            <a:lvl7pPr lvl="6" algn="l">
              <a:lnSpc>
                <a:spcPct val="100000"/>
              </a:lnSpc>
              <a:spcBef>
                <a:spcPts val="0"/>
              </a:spcBef>
              <a:spcAft>
                <a:spcPts val="0"/>
              </a:spcAft>
              <a:buClr>
                <a:schemeClr val="lt1"/>
              </a:buClr>
              <a:buSzPts val="10000"/>
              <a:buNone/>
              <a:defRPr sz="10000">
                <a:solidFill>
                  <a:schemeClr val="lt1"/>
                </a:solidFill>
              </a:defRPr>
            </a:lvl7pPr>
            <a:lvl8pPr lvl="7" algn="l">
              <a:lnSpc>
                <a:spcPct val="100000"/>
              </a:lnSpc>
              <a:spcBef>
                <a:spcPts val="0"/>
              </a:spcBef>
              <a:spcAft>
                <a:spcPts val="0"/>
              </a:spcAft>
              <a:buClr>
                <a:schemeClr val="lt1"/>
              </a:buClr>
              <a:buSzPts val="10000"/>
              <a:buNone/>
              <a:defRPr sz="10000">
                <a:solidFill>
                  <a:schemeClr val="lt1"/>
                </a:solidFill>
              </a:defRPr>
            </a:lvl8pPr>
            <a:lvl9pPr lvl="8" algn="l">
              <a:lnSpc>
                <a:spcPct val="100000"/>
              </a:lnSpc>
              <a:spcBef>
                <a:spcPts val="0"/>
              </a:spcBef>
              <a:spcAft>
                <a:spcPts val="0"/>
              </a:spcAft>
              <a:buClr>
                <a:schemeClr val="lt1"/>
              </a:buClr>
              <a:buSzPts val="10000"/>
              <a:buNone/>
              <a:defRPr sz="10000">
                <a:solidFill>
                  <a:schemeClr val="lt1"/>
                </a:solidFill>
              </a:defRPr>
            </a:lvl9pPr>
          </a:lstStyle>
          <a:p>
            <a:r>
              <a:t>xx%</a:t>
            </a:r>
          </a:p>
        </p:txBody>
      </p:sp>
      <p:sp>
        <p:nvSpPr>
          <p:cNvPr id="58" name="Google Shape;58;p12"/>
          <p:cNvSpPr txBox="1"/>
          <p:nvPr>
            <p:ph idx="1" type="body"/>
          </p:nvPr>
        </p:nvSpPr>
        <p:spPr>
          <a:xfrm>
            <a:off x="311700" y="2121425"/>
            <a:ext cx="5334900" cy="9426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Clr>
                <a:schemeClr val="accent2"/>
              </a:buClr>
              <a:buSzPts val="1300"/>
              <a:buChar char="●"/>
              <a:defRPr>
                <a:solidFill>
                  <a:schemeClr val="accent2"/>
                </a:solidFill>
              </a:defRPr>
            </a:lvl1pPr>
            <a:lvl2pPr indent="-298450" lvl="1" marL="914400" algn="l">
              <a:lnSpc>
                <a:spcPct val="115000"/>
              </a:lnSpc>
              <a:spcBef>
                <a:spcPts val="0"/>
              </a:spcBef>
              <a:spcAft>
                <a:spcPts val="0"/>
              </a:spcAft>
              <a:buClr>
                <a:schemeClr val="accent2"/>
              </a:buClr>
              <a:buSzPts val="1100"/>
              <a:buChar char="○"/>
              <a:defRPr>
                <a:solidFill>
                  <a:schemeClr val="accent2"/>
                </a:solidFill>
              </a:defRPr>
            </a:lvl2pPr>
            <a:lvl3pPr indent="-298450" lvl="2" marL="1371600" algn="l">
              <a:lnSpc>
                <a:spcPct val="115000"/>
              </a:lnSpc>
              <a:spcBef>
                <a:spcPts val="0"/>
              </a:spcBef>
              <a:spcAft>
                <a:spcPts val="0"/>
              </a:spcAft>
              <a:buClr>
                <a:schemeClr val="accent2"/>
              </a:buClr>
              <a:buSzPts val="1100"/>
              <a:buChar char="■"/>
              <a:defRPr>
                <a:solidFill>
                  <a:schemeClr val="accent2"/>
                </a:solidFill>
              </a:defRPr>
            </a:lvl3pPr>
            <a:lvl4pPr indent="-298450" lvl="3" marL="1828800" algn="l">
              <a:lnSpc>
                <a:spcPct val="115000"/>
              </a:lnSpc>
              <a:spcBef>
                <a:spcPts val="0"/>
              </a:spcBef>
              <a:spcAft>
                <a:spcPts val="0"/>
              </a:spcAft>
              <a:buClr>
                <a:schemeClr val="accent2"/>
              </a:buClr>
              <a:buSzPts val="1100"/>
              <a:buChar char="●"/>
              <a:defRPr>
                <a:solidFill>
                  <a:schemeClr val="accent2"/>
                </a:solidFill>
              </a:defRPr>
            </a:lvl4pPr>
            <a:lvl5pPr indent="-298450" lvl="4" marL="2286000" algn="l">
              <a:lnSpc>
                <a:spcPct val="115000"/>
              </a:lnSpc>
              <a:spcBef>
                <a:spcPts val="0"/>
              </a:spcBef>
              <a:spcAft>
                <a:spcPts val="0"/>
              </a:spcAft>
              <a:buClr>
                <a:schemeClr val="accent2"/>
              </a:buClr>
              <a:buSzPts val="1100"/>
              <a:buChar char="○"/>
              <a:defRPr>
                <a:solidFill>
                  <a:schemeClr val="accent2"/>
                </a:solidFill>
              </a:defRPr>
            </a:lvl5pPr>
            <a:lvl6pPr indent="-298450" lvl="5" marL="2743200" algn="l">
              <a:lnSpc>
                <a:spcPct val="115000"/>
              </a:lnSpc>
              <a:spcBef>
                <a:spcPts val="0"/>
              </a:spcBef>
              <a:spcAft>
                <a:spcPts val="0"/>
              </a:spcAft>
              <a:buClr>
                <a:schemeClr val="accent2"/>
              </a:buClr>
              <a:buSzPts val="1100"/>
              <a:buChar char="■"/>
              <a:defRPr>
                <a:solidFill>
                  <a:schemeClr val="accent2"/>
                </a:solidFill>
              </a:defRPr>
            </a:lvl6pPr>
            <a:lvl7pPr indent="-298450" lvl="6" marL="3200400" algn="l">
              <a:lnSpc>
                <a:spcPct val="115000"/>
              </a:lnSpc>
              <a:spcBef>
                <a:spcPts val="0"/>
              </a:spcBef>
              <a:spcAft>
                <a:spcPts val="0"/>
              </a:spcAft>
              <a:buClr>
                <a:schemeClr val="accent2"/>
              </a:buClr>
              <a:buSzPts val="1100"/>
              <a:buChar char="●"/>
              <a:defRPr>
                <a:solidFill>
                  <a:schemeClr val="accent2"/>
                </a:solidFill>
              </a:defRPr>
            </a:lvl7pPr>
            <a:lvl8pPr indent="-298450" lvl="7" marL="3657600" algn="l">
              <a:lnSpc>
                <a:spcPct val="115000"/>
              </a:lnSpc>
              <a:spcBef>
                <a:spcPts val="0"/>
              </a:spcBef>
              <a:spcAft>
                <a:spcPts val="0"/>
              </a:spcAft>
              <a:buClr>
                <a:schemeClr val="accent2"/>
              </a:buClr>
              <a:buSzPts val="1100"/>
              <a:buChar char="○"/>
              <a:defRPr>
                <a:solidFill>
                  <a:schemeClr val="accent2"/>
                </a:solidFill>
              </a:defRPr>
            </a:lvl8pPr>
            <a:lvl9pPr indent="-298450" lvl="8" marL="4114800" algn="l">
              <a:lnSpc>
                <a:spcPct val="115000"/>
              </a:lnSpc>
              <a:spcBef>
                <a:spcPts val="0"/>
              </a:spcBef>
              <a:spcAft>
                <a:spcPts val="0"/>
              </a:spcAft>
              <a:buClr>
                <a:schemeClr val="accent2"/>
              </a:buClr>
              <a:buSzPts val="1100"/>
              <a:buChar char="■"/>
              <a:defRPr>
                <a:solidFill>
                  <a:schemeClr val="accent2"/>
                </a:solidFill>
              </a:defRPr>
            </a:lvl9pPr>
          </a:lstStyle>
          <a:p/>
        </p:txBody>
      </p:sp>
      <p:sp>
        <p:nvSpPr>
          <p:cNvPr id="59" name="Google Shape;5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1pPr>
            <a:lvl2pPr lvl="1"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2pPr>
            <a:lvl3pPr lvl="2"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3pPr>
            <a:lvl4pPr lvl="3"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4pPr>
            <a:lvl5pPr lvl="4"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5pPr>
            <a:lvl6pPr lvl="5"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6pPr>
            <a:lvl7pPr lvl="6"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7pPr>
            <a:lvl8pPr lvl="7"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8pPr>
            <a:lvl9pPr lvl="8"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dk2"/>
              </a:buClr>
              <a:buSzPts val="1300"/>
              <a:buFont typeface="Roboto"/>
              <a:buChar char="●"/>
              <a:defRPr b="0" i="0" sz="1300" u="none" cap="none" strike="noStrike">
                <a:solidFill>
                  <a:schemeClr val="dk2"/>
                </a:solidFill>
                <a:latin typeface="Roboto"/>
                <a:ea typeface="Roboto"/>
                <a:cs typeface="Roboto"/>
                <a:sym typeface="Roboto"/>
              </a:defRPr>
            </a:lvl1pPr>
            <a:lvl2pPr indent="-298450" lvl="1" marL="9144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2pPr>
            <a:lvl3pPr indent="-298450" lvl="2" marL="13716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3pPr>
            <a:lvl4pPr indent="-298450" lvl="3" marL="18288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4pPr>
            <a:lvl5pPr indent="-298450" lvl="4" marL="22860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5pPr>
            <a:lvl6pPr indent="-298450" lvl="5" marL="27432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6pPr>
            <a:lvl7pPr indent="-298450" lvl="6" marL="32004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7pPr>
            <a:lvl8pPr indent="-298450" lvl="7" marL="36576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8pPr>
            <a:lvl9pPr indent="-298450" lvl="8" marL="4114800" marR="0" rtl="0" algn="l">
              <a:lnSpc>
                <a:spcPct val="115000"/>
              </a:lnSpc>
              <a:spcBef>
                <a:spcPts val="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jpg"/><Relationship Id="rId6" Type="http://schemas.openxmlformats.org/officeDocument/2006/relationships/image" Target="../media/image4.jpg"/><Relationship Id="rId7"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3"/>
          <p:cNvSpPr txBox="1"/>
          <p:nvPr>
            <p:ph type="ctrTitle"/>
          </p:nvPr>
        </p:nvSpPr>
        <p:spPr>
          <a:xfrm>
            <a:off x="311700" y="539725"/>
            <a:ext cx="8520600" cy="1282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600"/>
              <a:buNone/>
            </a:pPr>
            <a:r>
              <a:rPr lang="en"/>
              <a:t>Social Manipulation of NARS</a:t>
            </a:r>
            <a:endParaRPr/>
          </a:p>
        </p:txBody>
      </p:sp>
      <p:sp>
        <p:nvSpPr>
          <p:cNvPr id="65" name="Google Shape;65;p13"/>
          <p:cNvSpPr txBox="1"/>
          <p:nvPr>
            <p:ph idx="1" type="subTitle"/>
          </p:nvPr>
        </p:nvSpPr>
        <p:spPr>
          <a:xfrm>
            <a:off x="311700" y="1878560"/>
            <a:ext cx="4242600" cy="7383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600"/>
              <a:buNone/>
            </a:pPr>
            <a:r>
              <a:rPr lang="en"/>
              <a:t>By Donye Wakefield | MS Computer Science</a:t>
            </a:r>
            <a:endParaRPr/>
          </a:p>
        </p:txBody>
      </p:sp>
      <p:pic>
        <p:nvPicPr>
          <p:cNvPr descr="/sessions/friendly-magical-bohr/temple_logo.png" id="66" name="Google Shape;66;p13"/>
          <p:cNvPicPr preferRelativeResize="0"/>
          <p:nvPr/>
        </p:nvPicPr>
        <p:blipFill rotWithShape="1">
          <a:blip r:embed="rId3">
            <a:alphaModFix/>
          </a:blip>
          <a:srcRect b="0" l="0" r="0" t="0"/>
          <a:stretch/>
        </p:blipFill>
        <p:spPr>
          <a:xfrm>
            <a:off x="7498080" y="137160"/>
            <a:ext cx="1463040" cy="32918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4"/>
          <p:cNvSpPr txBox="1"/>
          <p:nvPr>
            <p:ph type="title"/>
          </p:nvPr>
        </p:nvSpPr>
        <p:spPr>
          <a:xfrm>
            <a:off x="311725" y="500925"/>
            <a:ext cx="3706500" cy="2508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Overview</a:t>
            </a:r>
            <a:endParaRPr/>
          </a:p>
        </p:txBody>
      </p:sp>
      <p:sp>
        <p:nvSpPr>
          <p:cNvPr id="72" name="Google Shape;72;p14"/>
          <p:cNvSpPr txBox="1"/>
          <p:nvPr>
            <p:ph idx="1" type="body"/>
          </p:nvPr>
        </p:nvSpPr>
        <p:spPr>
          <a:xfrm>
            <a:off x="4656250" y="639825"/>
            <a:ext cx="4166400" cy="4098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n">
                <a:solidFill>
                  <a:schemeClr val="dk1"/>
                </a:solidFill>
              </a:rPr>
              <a:t>This project investigates how an AGI inspired system can reason in environments where information comes from multiple sources with different levels of reliability, including truthful, deceptive, and random agents.</a:t>
            </a:r>
            <a:endParaRPr>
              <a:solidFill>
                <a:schemeClr val="dk1"/>
              </a:solidFill>
            </a:endParaRPr>
          </a:p>
          <a:p>
            <a:pPr indent="0" lvl="0" marL="0" rtl="0" algn="l">
              <a:lnSpc>
                <a:spcPct val="115000"/>
              </a:lnSpc>
              <a:spcBef>
                <a:spcPts val="1200"/>
              </a:spcBef>
              <a:spcAft>
                <a:spcPts val="0"/>
              </a:spcAft>
              <a:buSzPts val="1300"/>
              <a:buNone/>
            </a:pPr>
            <a:r>
              <a:rPr lang="en">
                <a:solidFill>
                  <a:schemeClr val="dk1"/>
                </a:solidFill>
              </a:rPr>
              <a:t>This is an experimental project in particular designed to evaluate how the Non-Axiomatic Reasoning System (NARS) specifically performs in an environment where information is </a:t>
            </a:r>
            <a:r>
              <a:rPr b="1" lang="en">
                <a:solidFill>
                  <a:schemeClr val="dk1"/>
                </a:solidFill>
              </a:rPr>
              <a:t>socially generated</a:t>
            </a:r>
            <a:r>
              <a:rPr lang="en">
                <a:solidFill>
                  <a:schemeClr val="dk1"/>
                </a:solidFill>
              </a:rPr>
              <a:t> and </a:t>
            </a:r>
            <a:r>
              <a:rPr b="1" lang="en">
                <a:solidFill>
                  <a:schemeClr val="dk1"/>
                </a:solidFill>
              </a:rPr>
              <a:t>varies in reliability</a:t>
            </a:r>
            <a:r>
              <a:rPr lang="en">
                <a:solidFill>
                  <a:schemeClr val="dk1"/>
                </a:solidFill>
              </a:rPr>
              <a:t>. </a:t>
            </a:r>
            <a:endParaRPr>
              <a:solidFill>
                <a:schemeClr val="dk1"/>
              </a:solidFill>
            </a:endParaRPr>
          </a:p>
          <a:p>
            <a:pPr indent="0" lvl="0" marL="0" rtl="0" algn="l">
              <a:lnSpc>
                <a:spcPct val="115000"/>
              </a:lnSpc>
              <a:spcBef>
                <a:spcPts val="1200"/>
              </a:spcBef>
              <a:spcAft>
                <a:spcPts val="1200"/>
              </a:spcAft>
              <a:buSzPts val="1300"/>
              <a:buNone/>
            </a:pPr>
            <a:r>
              <a:rPr b="1" lang="en" sz="1500">
                <a:solidFill>
                  <a:schemeClr val="dk1"/>
                </a:solidFill>
              </a:rPr>
              <a:t>Goal</a:t>
            </a:r>
            <a:r>
              <a:rPr lang="en">
                <a:solidFill>
                  <a:schemeClr val="dk1"/>
                </a:solidFill>
              </a:rPr>
              <a:t>: determine whether NARS can accurately infer true environmental facts while simultaneously learning which information sources are trustworthy, even when some agents provide misleading or inconsistent information.</a:t>
            </a:r>
            <a:endParaRPr>
              <a:solidFill>
                <a:schemeClr val="dk1"/>
              </a:solidFill>
            </a:endParaRPr>
          </a:p>
        </p:txBody>
      </p:sp>
      <p:pic>
        <p:nvPicPr>
          <p:cNvPr descr="/sessions/friendly-magical-bohr/temple_logo.png" id="73" name="Google Shape;73;p14"/>
          <p:cNvPicPr preferRelativeResize="0"/>
          <p:nvPr/>
        </p:nvPicPr>
        <p:blipFill rotWithShape="1">
          <a:blip r:embed="rId3">
            <a:alphaModFix/>
          </a:blip>
          <a:srcRect b="0" l="0" r="0" t="0"/>
          <a:stretch/>
        </p:blipFill>
        <p:spPr>
          <a:xfrm>
            <a:off x="7498080" y="137160"/>
            <a:ext cx="1463040" cy="32918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idx="1" type="body"/>
          </p:nvPr>
        </p:nvSpPr>
        <p:spPr>
          <a:xfrm>
            <a:off x="263275" y="3455650"/>
            <a:ext cx="5998800" cy="605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4000">
                <a:solidFill>
                  <a:schemeClr val="dk1"/>
                </a:solidFill>
              </a:rPr>
              <a:t>Experimental Design</a:t>
            </a:r>
            <a:endParaRPr sz="4000">
              <a:solidFill>
                <a:schemeClr val="dk1"/>
              </a:solidFill>
            </a:endParaRPr>
          </a:p>
        </p:txBody>
      </p:sp>
      <p:pic>
        <p:nvPicPr>
          <p:cNvPr descr="/sessions/friendly-magical-bohr/temple_logo.png" id="79" name="Google Shape;79;p15"/>
          <p:cNvPicPr preferRelativeResize="0"/>
          <p:nvPr/>
        </p:nvPicPr>
        <p:blipFill rotWithShape="1">
          <a:blip r:embed="rId3">
            <a:alphaModFix/>
          </a:blip>
          <a:srcRect b="0" l="0" r="0" t="0"/>
          <a:stretch/>
        </p:blipFill>
        <p:spPr>
          <a:xfrm>
            <a:off x="7498080" y="137160"/>
            <a:ext cx="1463040" cy="32918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11725" y="500925"/>
            <a:ext cx="3706500" cy="2508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Environment Facts</a:t>
            </a:r>
            <a:endParaRPr/>
          </a:p>
        </p:txBody>
      </p:sp>
      <p:sp>
        <p:nvSpPr>
          <p:cNvPr id="85" name="Google Shape;85;p16"/>
          <p:cNvSpPr txBox="1"/>
          <p:nvPr>
            <p:ph idx="1" type="body"/>
          </p:nvPr>
        </p:nvSpPr>
        <p:spPr>
          <a:xfrm>
            <a:off x="4664650" y="1044900"/>
            <a:ext cx="4166400" cy="40986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Clr>
                <a:schemeClr val="dk1"/>
              </a:buClr>
              <a:buSzPts val="1300"/>
              <a:buChar char="●"/>
            </a:pPr>
            <a:r>
              <a:rPr lang="en">
                <a:solidFill>
                  <a:schemeClr val="dk1"/>
                </a:solidFill>
              </a:rPr>
              <a:t>A fixed set of </a:t>
            </a:r>
            <a:r>
              <a:rPr b="1" lang="en">
                <a:solidFill>
                  <a:schemeClr val="dk1"/>
                </a:solidFill>
              </a:rPr>
              <a:t>ground-truth facts</a:t>
            </a:r>
            <a:endParaRPr b="1">
              <a:solidFill>
                <a:schemeClr val="dk1"/>
              </a:solidFill>
            </a:endParaRPr>
          </a:p>
          <a:p>
            <a:pPr indent="-311150" lvl="0" marL="457200" rtl="0" algn="l">
              <a:lnSpc>
                <a:spcPct val="115000"/>
              </a:lnSpc>
              <a:spcBef>
                <a:spcPts val="0"/>
              </a:spcBef>
              <a:spcAft>
                <a:spcPts val="0"/>
              </a:spcAft>
              <a:buClr>
                <a:schemeClr val="dk1"/>
              </a:buClr>
              <a:buSzPts val="1300"/>
              <a:buChar char="●"/>
            </a:pPr>
            <a:r>
              <a:rPr lang="en">
                <a:solidFill>
                  <a:schemeClr val="dk1"/>
                </a:solidFill>
              </a:rPr>
              <a:t>Each of these facts represents a </a:t>
            </a:r>
            <a:r>
              <a:rPr b="1" lang="en">
                <a:solidFill>
                  <a:schemeClr val="dk1"/>
                </a:solidFill>
              </a:rPr>
              <a:t>simple proposition </a:t>
            </a:r>
            <a:r>
              <a:rPr lang="en">
                <a:solidFill>
                  <a:schemeClr val="dk1"/>
                </a:solidFill>
              </a:rPr>
              <a:t>about the environment</a:t>
            </a:r>
            <a:endParaRPr>
              <a:solidFill>
                <a:schemeClr val="dk1"/>
              </a:solidFill>
            </a:endParaRPr>
          </a:p>
          <a:p>
            <a:pPr indent="-311150" lvl="0" marL="457200" rtl="0" algn="l">
              <a:lnSpc>
                <a:spcPct val="115000"/>
              </a:lnSpc>
              <a:spcBef>
                <a:spcPts val="0"/>
              </a:spcBef>
              <a:spcAft>
                <a:spcPts val="0"/>
              </a:spcAft>
              <a:buClr>
                <a:schemeClr val="dk1"/>
              </a:buClr>
              <a:buSzPts val="1300"/>
              <a:buChar char="●"/>
            </a:pPr>
            <a:r>
              <a:rPr lang="en">
                <a:solidFill>
                  <a:schemeClr val="dk1"/>
                </a:solidFill>
              </a:rPr>
              <a:t>Examples would be “Object A is in location X” or “Condition Y is True”.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Using these propositional statements:</a:t>
            </a:r>
            <a:endParaRPr>
              <a:solidFill>
                <a:schemeClr val="dk1"/>
              </a:solidFill>
            </a:endParaRPr>
          </a:p>
          <a:p>
            <a:pPr indent="-311150" lvl="0" marL="457200" rtl="0" algn="l">
              <a:spcBef>
                <a:spcPts val="0"/>
              </a:spcBef>
              <a:spcAft>
                <a:spcPts val="0"/>
              </a:spcAft>
              <a:buClr>
                <a:schemeClr val="dk1"/>
              </a:buClr>
              <a:buSzPts val="1300"/>
              <a:buAutoNum type="arabicPeriod"/>
            </a:pPr>
            <a:r>
              <a:rPr lang="en">
                <a:solidFill>
                  <a:schemeClr val="dk1"/>
                </a:solidFill>
              </a:rPr>
              <a:t>Object A is active</a:t>
            </a:r>
            <a:endParaRPr>
              <a:solidFill>
                <a:schemeClr val="dk1"/>
              </a:solidFill>
            </a:endParaRPr>
          </a:p>
          <a:p>
            <a:pPr indent="-311150" lvl="0" marL="457200" rtl="0" algn="l">
              <a:spcBef>
                <a:spcPts val="0"/>
              </a:spcBef>
              <a:spcAft>
                <a:spcPts val="0"/>
              </a:spcAft>
              <a:buClr>
                <a:schemeClr val="dk1"/>
              </a:buClr>
              <a:buSzPts val="1300"/>
              <a:buAutoNum type="arabicPeriod"/>
            </a:pPr>
            <a:r>
              <a:rPr lang="en">
                <a:solidFill>
                  <a:schemeClr val="dk1"/>
                </a:solidFill>
              </a:rPr>
              <a:t>Object B is inactive</a:t>
            </a:r>
            <a:endParaRPr>
              <a:solidFill>
                <a:schemeClr val="dk1"/>
              </a:solidFill>
            </a:endParaRPr>
          </a:p>
          <a:p>
            <a:pPr indent="-311150" lvl="0" marL="457200" rtl="0" algn="l">
              <a:spcBef>
                <a:spcPts val="0"/>
              </a:spcBef>
              <a:spcAft>
                <a:spcPts val="0"/>
              </a:spcAft>
              <a:buClr>
                <a:schemeClr val="dk1"/>
              </a:buClr>
              <a:buSzPts val="1300"/>
              <a:buAutoNum type="arabicPeriod"/>
            </a:pPr>
            <a:r>
              <a:rPr lang="en">
                <a:solidFill>
                  <a:schemeClr val="dk1"/>
                </a:solidFill>
              </a:rPr>
              <a:t>Object C is red</a:t>
            </a:r>
            <a:endParaRPr>
              <a:solidFill>
                <a:schemeClr val="dk1"/>
              </a:solidFill>
            </a:endParaRPr>
          </a:p>
          <a:p>
            <a:pPr indent="-311150" lvl="0" marL="457200" rtl="0" algn="l">
              <a:spcBef>
                <a:spcPts val="0"/>
              </a:spcBef>
              <a:spcAft>
                <a:spcPts val="0"/>
              </a:spcAft>
              <a:buClr>
                <a:schemeClr val="dk1"/>
              </a:buClr>
              <a:buSzPts val="1300"/>
              <a:buAutoNum type="arabicPeriod"/>
            </a:pPr>
            <a:r>
              <a:rPr lang="en">
                <a:solidFill>
                  <a:schemeClr val="dk1"/>
                </a:solidFill>
              </a:rPr>
              <a:t>Object D is blue</a:t>
            </a:r>
            <a:endParaRPr>
              <a:solidFill>
                <a:schemeClr val="dk1"/>
              </a:solidFill>
            </a:endParaRPr>
          </a:p>
          <a:p>
            <a:pPr indent="-311150" lvl="0" marL="457200" rtl="0" algn="l">
              <a:spcBef>
                <a:spcPts val="0"/>
              </a:spcBef>
              <a:spcAft>
                <a:spcPts val="0"/>
              </a:spcAft>
              <a:buClr>
                <a:schemeClr val="dk1"/>
              </a:buClr>
              <a:buSzPts val="1300"/>
              <a:buAutoNum type="arabicPeriod"/>
            </a:pPr>
            <a:r>
              <a:rPr lang="en">
                <a:solidFill>
                  <a:schemeClr val="dk1"/>
                </a:solidFill>
              </a:rPr>
              <a:t>Signal 1 is open</a:t>
            </a:r>
            <a:endParaRPr>
              <a:solidFill>
                <a:schemeClr val="dk1"/>
              </a:solidFill>
            </a:endParaRPr>
          </a:p>
          <a:p>
            <a:pPr indent="-311150" lvl="0" marL="457200" rtl="0" algn="l">
              <a:spcBef>
                <a:spcPts val="0"/>
              </a:spcBef>
              <a:spcAft>
                <a:spcPts val="0"/>
              </a:spcAft>
              <a:buClr>
                <a:schemeClr val="dk1"/>
              </a:buClr>
              <a:buSzPts val="1300"/>
              <a:buAutoNum type="arabicPeriod"/>
            </a:pPr>
            <a:r>
              <a:rPr lang="en">
                <a:solidFill>
                  <a:schemeClr val="dk1"/>
                </a:solidFill>
              </a:rPr>
              <a:t>Signal 2 is closed</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1200"/>
              </a:spcBef>
              <a:spcAft>
                <a:spcPts val="1200"/>
              </a:spcAft>
              <a:buSzPts val="1300"/>
              <a:buNone/>
            </a:pPr>
            <a:r>
              <a:t/>
            </a:r>
            <a:endParaRPr>
              <a:solidFill>
                <a:schemeClr val="dk1"/>
              </a:solidFill>
            </a:endParaRPr>
          </a:p>
        </p:txBody>
      </p:sp>
      <p:pic>
        <p:nvPicPr>
          <p:cNvPr descr="/sessions/friendly-magical-bohr/temple_logo.png" id="86" name="Google Shape;86;p16"/>
          <p:cNvPicPr preferRelativeResize="0"/>
          <p:nvPr/>
        </p:nvPicPr>
        <p:blipFill rotWithShape="1">
          <a:blip r:embed="rId3">
            <a:alphaModFix/>
          </a:blip>
          <a:srcRect b="0" l="0" r="0" t="0"/>
          <a:stretch/>
        </p:blipFill>
        <p:spPr>
          <a:xfrm>
            <a:off x="7498080" y="137160"/>
            <a:ext cx="1463040" cy="329184"/>
          </a:xfrm>
          <a:prstGeom prst="rect">
            <a:avLst/>
          </a:prstGeom>
          <a:noFill/>
          <a:ln>
            <a:noFill/>
          </a:ln>
        </p:spPr>
      </p:pic>
      <p:sp>
        <p:nvSpPr>
          <p:cNvPr id="87" name="Google Shape;87;p16"/>
          <p:cNvSpPr txBox="1"/>
          <p:nvPr/>
        </p:nvSpPr>
        <p:spPr>
          <a:xfrm>
            <a:off x="109850" y="1148550"/>
            <a:ext cx="4124700" cy="197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lt1"/>
                </a:solidFill>
                <a:latin typeface="Roboto"/>
                <a:ea typeface="Roboto"/>
                <a:cs typeface="Roboto"/>
                <a:sym typeface="Roboto"/>
              </a:rPr>
              <a:t>serves as the referenced standard against which NARS beliefs will be evaluated</a:t>
            </a:r>
            <a:endParaRPr b="0" i="0" sz="1300" u="none" cap="none" strike="noStrike">
              <a:solidFill>
                <a:schemeClr val="lt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25" y="500925"/>
            <a:ext cx="3706500" cy="2508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Agent Types</a:t>
            </a:r>
            <a:endParaRPr/>
          </a:p>
        </p:txBody>
      </p:sp>
      <p:sp>
        <p:nvSpPr>
          <p:cNvPr id="93" name="Google Shape;93;p17"/>
          <p:cNvSpPr txBox="1"/>
          <p:nvPr>
            <p:ph idx="1" type="body"/>
          </p:nvPr>
        </p:nvSpPr>
        <p:spPr>
          <a:xfrm>
            <a:off x="5088650" y="725850"/>
            <a:ext cx="4166400" cy="40986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08108"/>
              <a:buNone/>
            </a:pPr>
            <a:r>
              <a:rPr b="1" i="1" lang="en">
                <a:solidFill>
                  <a:schemeClr val="dk1"/>
                </a:solidFill>
              </a:rPr>
              <a:t>Truthful Agents</a:t>
            </a:r>
            <a:r>
              <a:rPr lang="en">
                <a:solidFill>
                  <a:schemeClr val="dk1"/>
                </a:solidFill>
              </a:rPr>
              <a:t> - always provide correct statements that align with the ground-truth fact. </a:t>
            </a:r>
            <a:r>
              <a:rPr b="1" lang="en" sz="1308">
                <a:solidFill>
                  <a:schemeClr val="dk1"/>
                </a:solidFill>
              </a:rPr>
              <a:t>High Reliability (</a:t>
            </a:r>
            <a:r>
              <a:rPr b="1" lang="en" sz="1308">
                <a:solidFill>
                  <a:srgbClr val="1F1F1F"/>
                </a:solidFill>
              </a:rPr>
              <a:t>≈ </a:t>
            </a:r>
            <a:r>
              <a:rPr b="1" lang="en" sz="1308">
                <a:solidFill>
                  <a:schemeClr val="dk1"/>
                </a:solidFill>
              </a:rPr>
              <a:t>1.0)</a:t>
            </a:r>
            <a:r>
              <a:rPr lang="en" sz="1200">
                <a:solidFill>
                  <a:schemeClr val="dk1"/>
                </a:solidFill>
              </a:rPr>
              <a:t> </a:t>
            </a:r>
            <a:r>
              <a:rPr lang="en">
                <a:solidFill>
                  <a:schemeClr val="dk1"/>
                </a:solidFill>
              </a:rPr>
              <a:t> </a:t>
            </a:r>
            <a:endParaRPr>
              <a:solidFill>
                <a:schemeClr val="dk1"/>
              </a:solidFill>
            </a:endParaRPr>
          </a:p>
          <a:p>
            <a:pPr indent="0" lvl="0" marL="0" rtl="0" algn="l">
              <a:lnSpc>
                <a:spcPct val="115000"/>
              </a:lnSpc>
              <a:spcBef>
                <a:spcPts val="1200"/>
              </a:spcBef>
              <a:spcAft>
                <a:spcPts val="0"/>
              </a:spcAft>
              <a:buSzPct val="108108"/>
              <a:buNone/>
            </a:pPr>
            <a:r>
              <a:t/>
            </a:r>
            <a:endParaRPr>
              <a:solidFill>
                <a:schemeClr val="dk1"/>
              </a:solidFill>
            </a:endParaRPr>
          </a:p>
          <a:p>
            <a:pPr indent="0" lvl="0" marL="0" rtl="0" algn="l">
              <a:lnSpc>
                <a:spcPct val="115000"/>
              </a:lnSpc>
              <a:spcBef>
                <a:spcPts val="1200"/>
              </a:spcBef>
              <a:spcAft>
                <a:spcPts val="0"/>
              </a:spcAft>
              <a:buSzPct val="107447"/>
              <a:buNone/>
            </a:pPr>
            <a:r>
              <a:rPr b="1" i="1" lang="en">
                <a:solidFill>
                  <a:schemeClr val="dk1"/>
                </a:solidFill>
              </a:rPr>
              <a:t>Deceptive Agents</a:t>
            </a:r>
            <a:r>
              <a:rPr lang="en">
                <a:solidFill>
                  <a:schemeClr val="dk1"/>
                </a:solidFill>
              </a:rPr>
              <a:t> - always provide incorrect statements that contradict the ground-truth fact. </a:t>
            </a:r>
            <a:r>
              <a:rPr b="1" lang="en">
                <a:solidFill>
                  <a:schemeClr val="dk1"/>
                </a:solidFill>
              </a:rPr>
              <a:t>Low Reliability </a:t>
            </a:r>
            <a:r>
              <a:rPr b="1" lang="en" sz="1308">
                <a:solidFill>
                  <a:schemeClr val="dk1"/>
                </a:solidFill>
              </a:rPr>
              <a:t>(</a:t>
            </a:r>
            <a:r>
              <a:rPr b="1" lang="en" sz="1308">
                <a:solidFill>
                  <a:srgbClr val="1F1F1F"/>
                </a:solidFill>
              </a:rPr>
              <a:t>≈ 0.0)</a:t>
            </a:r>
            <a:endParaRPr b="1" sz="1308">
              <a:solidFill>
                <a:schemeClr val="dk1"/>
              </a:solidFill>
            </a:endParaRPr>
          </a:p>
          <a:p>
            <a:pPr indent="0" lvl="0" marL="0" rtl="0" algn="l">
              <a:lnSpc>
                <a:spcPct val="115000"/>
              </a:lnSpc>
              <a:spcBef>
                <a:spcPts val="1200"/>
              </a:spcBef>
              <a:spcAft>
                <a:spcPts val="0"/>
              </a:spcAft>
              <a:buSzPct val="108108"/>
              <a:buNone/>
            </a:pPr>
            <a:r>
              <a:t/>
            </a:r>
            <a:endParaRPr>
              <a:solidFill>
                <a:schemeClr val="dk1"/>
              </a:solidFill>
            </a:endParaRPr>
          </a:p>
          <a:p>
            <a:pPr indent="0" lvl="0" marL="0" rtl="0" algn="l">
              <a:lnSpc>
                <a:spcPct val="115000"/>
              </a:lnSpc>
              <a:spcBef>
                <a:spcPts val="1200"/>
              </a:spcBef>
              <a:spcAft>
                <a:spcPts val="0"/>
              </a:spcAft>
              <a:buSzPct val="107447"/>
              <a:buNone/>
            </a:pPr>
            <a:r>
              <a:rPr b="1" i="1" lang="en">
                <a:solidFill>
                  <a:schemeClr val="dk1"/>
                </a:solidFill>
              </a:rPr>
              <a:t>Noisy Agents</a:t>
            </a:r>
            <a:r>
              <a:rPr lang="en">
                <a:solidFill>
                  <a:schemeClr val="dk1"/>
                </a:solidFill>
              </a:rPr>
              <a:t> - Unintentionally provides statements that either align with ground-truth or contradict the ground-truth (i.e. randomized truth value). </a:t>
            </a:r>
            <a:r>
              <a:rPr b="1" lang="en">
                <a:solidFill>
                  <a:schemeClr val="dk1"/>
                </a:solidFill>
              </a:rPr>
              <a:t>Uncertain Reliability </a:t>
            </a:r>
            <a:r>
              <a:rPr b="1" lang="en" sz="1308">
                <a:solidFill>
                  <a:schemeClr val="dk1"/>
                </a:solidFill>
              </a:rPr>
              <a:t>(</a:t>
            </a:r>
            <a:r>
              <a:rPr b="1" lang="en" sz="1308">
                <a:solidFill>
                  <a:srgbClr val="1F1F1F"/>
                </a:solidFill>
              </a:rPr>
              <a:t>≈ 0.5)</a:t>
            </a:r>
            <a:endParaRPr b="1" sz="1308">
              <a:solidFill>
                <a:schemeClr val="dk1"/>
              </a:solidFill>
            </a:endParaRPr>
          </a:p>
          <a:p>
            <a:pPr indent="0" lvl="0" marL="0" rtl="0" algn="l">
              <a:lnSpc>
                <a:spcPct val="115000"/>
              </a:lnSpc>
              <a:spcBef>
                <a:spcPts val="1200"/>
              </a:spcBef>
              <a:spcAft>
                <a:spcPts val="0"/>
              </a:spcAft>
              <a:buSzPct val="108108"/>
              <a:buNone/>
            </a:pPr>
            <a:r>
              <a:t/>
            </a:r>
            <a:endParaRPr>
              <a:solidFill>
                <a:schemeClr val="dk1"/>
              </a:solidFill>
            </a:endParaRPr>
          </a:p>
          <a:p>
            <a:pPr indent="0" lvl="0" marL="0" rtl="0" algn="l">
              <a:lnSpc>
                <a:spcPct val="115000"/>
              </a:lnSpc>
              <a:spcBef>
                <a:spcPts val="1200"/>
              </a:spcBef>
              <a:spcAft>
                <a:spcPts val="1200"/>
              </a:spcAft>
              <a:buSzPct val="108108"/>
              <a:buNone/>
            </a:pPr>
            <a:r>
              <a:rPr b="1" i="1" lang="en">
                <a:solidFill>
                  <a:schemeClr val="dk1"/>
                </a:solidFill>
              </a:rPr>
              <a:t>Strategic Agents</a:t>
            </a:r>
            <a:r>
              <a:rPr lang="en">
                <a:solidFill>
                  <a:schemeClr val="dk1"/>
                </a:solidFill>
              </a:rPr>
              <a:t> - Intentionally alternate between truthful and deceptive behavior based on predefined pattern. </a:t>
            </a:r>
            <a:r>
              <a:rPr b="1" lang="en">
                <a:solidFill>
                  <a:schemeClr val="dk1"/>
                </a:solidFill>
              </a:rPr>
              <a:t>Variable Reliability (flucuates over time)</a:t>
            </a:r>
            <a:endParaRPr b="1">
              <a:solidFill>
                <a:schemeClr val="dk1"/>
              </a:solidFill>
            </a:endParaRPr>
          </a:p>
        </p:txBody>
      </p:sp>
      <p:pic>
        <p:nvPicPr>
          <p:cNvPr descr="/sessions/friendly-magical-bohr/temple_logo.png" id="94" name="Google Shape;94;p17"/>
          <p:cNvPicPr preferRelativeResize="0"/>
          <p:nvPr/>
        </p:nvPicPr>
        <p:blipFill rotWithShape="1">
          <a:blip r:embed="rId3">
            <a:alphaModFix/>
          </a:blip>
          <a:srcRect b="0" l="0" r="0" t="0"/>
          <a:stretch/>
        </p:blipFill>
        <p:spPr>
          <a:xfrm>
            <a:off x="7498080" y="137160"/>
            <a:ext cx="1463040" cy="329184"/>
          </a:xfrm>
          <a:prstGeom prst="rect">
            <a:avLst/>
          </a:prstGeom>
          <a:noFill/>
          <a:ln>
            <a:noFill/>
          </a:ln>
        </p:spPr>
      </p:pic>
      <p:pic>
        <p:nvPicPr>
          <p:cNvPr id="95" name="Google Shape;95;p17" title="smile.png"/>
          <p:cNvPicPr preferRelativeResize="0"/>
          <p:nvPr/>
        </p:nvPicPr>
        <p:blipFill rotWithShape="1">
          <a:blip r:embed="rId4">
            <a:alphaModFix/>
          </a:blip>
          <a:srcRect b="0" l="0" r="0" t="0"/>
          <a:stretch/>
        </p:blipFill>
        <p:spPr>
          <a:xfrm>
            <a:off x="4279875" y="559025"/>
            <a:ext cx="922974" cy="922974"/>
          </a:xfrm>
          <a:prstGeom prst="rect">
            <a:avLst/>
          </a:prstGeom>
          <a:noFill/>
          <a:ln>
            <a:noFill/>
          </a:ln>
        </p:spPr>
      </p:pic>
      <p:pic>
        <p:nvPicPr>
          <p:cNvPr id="96" name="Google Shape;96;p17" title="sneaky.png.jpg"/>
          <p:cNvPicPr preferRelativeResize="0"/>
          <p:nvPr/>
        </p:nvPicPr>
        <p:blipFill rotWithShape="1">
          <a:blip r:embed="rId5">
            <a:alphaModFix/>
          </a:blip>
          <a:srcRect b="0" l="0" r="0" t="0"/>
          <a:stretch/>
        </p:blipFill>
        <p:spPr>
          <a:xfrm>
            <a:off x="4352400" y="3826150"/>
            <a:ext cx="777936" cy="922974"/>
          </a:xfrm>
          <a:prstGeom prst="rect">
            <a:avLst/>
          </a:prstGeom>
          <a:noFill/>
          <a:ln>
            <a:noFill/>
          </a:ln>
        </p:spPr>
      </p:pic>
      <p:pic>
        <p:nvPicPr>
          <p:cNvPr id="97" name="Google Shape;97;p17" title="silly.png.jpg"/>
          <p:cNvPicPr preferRelativeResize="0"/>
          <p:nvPr/>
        </p:nvPicPr>
        <p:blipFill rotWithShape="1">
          <a:blip r:embed="rId6">
            <a:alphaModFix/>
          </a:blip>
          <a:srcRect b="0" l="0" r="0" t="0"/>
          <a:stretch/>
        </p:blipFill>
        <p:spPr>
          <a:xfrm>
            <a:off x="4341050" y="2634013"/>
            <a:ext cx="800625" cy="922976"/>
          </a:xfrm>
          <a:prstGeom prst="rect">
            <a:avLst/>
          </a:prstGeom>
          <a:noFill/>
          <a:ln>
            <a:noFill/>
          </a:ln>
        </p:spPr>
      </p:pic>
      <p:pic>
        <p:nvPicPr>
          <p:cNvPr id="98" name="Google Shape;98;p17" title="evil.png"/>
          <p:cNvPicPr preferRelativeResize="0"/>
          <p:nvPr/>
        </p:nvPicPr>
        <p:blipFill rotWithShape="1">
          <a:blip r:embed="rId7">
            <a:alphaModFix/>
          </a:blip>
          <a:srcRect b="0" l="0" r="0" t="0"/>
          <a:stretch/>
        </p:blipFill>
        <p:spPr>
          <a:xfrm>
            <a:off x="4394074" y="1636775"/>
            <a:ext cx="694575" cy="728100"/>
          </a:xfrm>
          <a:prstGeom prst="rect">
            <a:avLst/>
          </a:prstGeom>
          <a:noFill/>
          <a:ln>
            <a:noFill/>
          </a:ln>
        </p:spPr>
      </p:pic>
      <p:sp>
        <p:nvSpPr>
          <p:cNvPr id="99" name="Google Shape;99;p17"/>
          <p:cNvSpPr txBox="1"/>
          <p:nvPr/>
        </p:nvSpPr>
        <p:spPr>
          <a:xfrm>
            <a:off x="311725" y="1549825"/>
            <a:ext cx="3584100" cy="1327200"/>
          </a:xfrm>
          <a:prstGeom prst="rect">
            <a:avLst/>
          </a:prstGeom>
          <a:noFill/>
          <a:ln>
            <a:noFill/>
          </a:ln>
        </p:spPr>
        <p:txBody>
          <a:bodyPr anchorCtr="0" anchor="t" bIns="91425" lIns="91425" spcFirstLastPara="1" rIns="91425" wrap="square" tIns="91425">
            <a:noAutofit/>
          </a:bodyPr>
          <a:lstStyle/>
          <a:p>
            <a:pPr indent="-311150" lvl="0" marL="457200" marR="0" rtl="0" algn="l">
              <a:lnSpc>
                <a:spcPct val="100000"/>
              </a:lnSpc>
              <a:spcBef>
                <a:spcPts val="0"/>
              </a:spcBef>
              <a:spcAft>
                <a:spcPts val="0"/>
              </a:spcAft>
              <a:buClr>
                <a:schemeClr val="lt1"/>
              </a:buClr>
              <a:buSzPts val="1300"/>
              <a:buFont typeface="Roboto"/>
              <a:buChar char="●"/>
            </a:pPr>
            <a:r>
              <a:rPr b="0" i="0" lang="en" sz="1300" u="none" cap="none" strike="noStrike">
                <a:solidFill>
                  <a:schemeClr val="lt1"/>
                </a:solidFill>
                <a:latin typeface="Roboto"/>
                <a:ea typeface="Roboto"/>
                <a:cs typeface="Roboto"/>
                <a:sym typeface="Roboto"/>
              </a:rPr>
              <a:t>Each of these agents acts as an independent information source</a:t>
            </a:r>
            <a:endParaRPr b="0" i="0" sz="1300" u="none" cap="none" strike="noStrike">
              <a:solidFill>
                <a:schemeClr val="lt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lt1"/>
              </a:solidFill>
              <a:latin typeface="Roboto"/>
              <a:ea typeface="Roboto"/>
              <a:cs typeface="Roboto"/>
              <a:sym typeface="Roboto"/>
            </a:endParaRPr>
          </a:p>
          <a:p>
            <a:pPr indent="-311150" lvl="0" marL="457200" marR="0" rtl="0" algn="l">
              <a:lnSpc>
                <a:spcPct val="100000"/>
              </a:lnSpc>
              <a:spcBef>
                <a:spcPts val="0"/>
              </a:spcBef>
              <a:spcAft>
                <a:spcPts val="0"/>
              </a:spcAft>
              <a:buClr>
                <a:schemeClr val="lt1"/>
              </a:buClr>
              <a:buSzPts val="1300"/>
              <a:buFont typeface="Roboto"/>
              <a:buChar char="●"/>
            </a:pPr>
            <a:r>
              <a:rPr b="0" i="0" lang="en" sz="1300" u="none" cap="none" strike="noStrike">
                <a:solidFill>
                  <a:schemeClr val="lt1"/>
                </a:solidFill>
                <a:latin typeface="Roboto"/>
                <a:ea typeface="Roboto"/>
                <a:cs typeface="Roboto"/>
                <a:sym typeface="Roboto"/>
              </a:rPr>
              <a:t>Each of these agents correspond to a implicit </a:t>
            </a:r>
            <a:r>
              <a:rPr b="1" i="0" lang="en" sz="1300" u="sng" cap="none" strike="noStrike">
                <a:solidFill>
                  <a:schemeClr val="lt1"/>
                </a:solidFill>
                <a:latin typeface="Roboto"/>
                <a:ea typeface="Roboto"/>
                <a:cs typeface="Roboto"/>
                <a:sym typeface="Roboto"/>
              </a:rPr>
              <a:t>reliability level</a:t>
            </a:r>
            <a:r>
              <a:rPr b="0" i="0" lang="en" sz="1300" u="none" cap="none" strike="noStrike">
                <a:solidFill>
                  <a:schemeClr val="lt1"/>
                </a:solidFill>
                <a:latin typeface="Roboto"/>
                <a:ea typeface="Roboto"/>
                <a:cs typeface="Roboto"/>
                <a:sym typeface="Roboto"/>
              </a:rPr>
              <a:t>. NARS infers these reliability levels over time based on </a:t>
            </a:r>
            <a:r>
              <a:rPr b="1" i="0" lang="en" sz="1300" u="sng" cap="none" strike="noStrike">
                <a:solidFill>
                  <a:schemeClr val="lt1"/>
                </a:solidFill>
                <a:latin typeface="Roboto"/>
                <a:ea typeface="Roboto"/>
                <a:cs typeface="Roboto"/>
                <a:sym typeface="Roboto"/>
              </a:rPr>
              <a:t>consistency</a:t>
            </a:r>
            <a:r>
              <a:rPr b="0" i="0" lang="en" sz="1300" u="none" cap="none" strike="noStrike">
                <a:solidFill>
                  <a:schemeClr val="lt1"/>
                </a:solidFill>
                <a:latin typeface="Roboto"/>
                <a:ea typeface="Roboto"/>
                <a:cs typeface="Roboto"/>
                <a:sym typeface="Roboto"/>
              </a:rPr>
              <a:t> and </a:t>
            </a:r>
            <a:r>
              <a:rPr b="1" i="0" lang="en" sz="1300" u="sng" cap="none" strike="noStrike">
                <a:solidFill>
                  <a:schemeClr val="lt1"/>
                </a:solidFill>
                <a:latin typeface="Roboto"/>
                <a:ea typeface="Roboto"/>
                <a:cs typeface="Roboto"/>
                <a:sym typeface="Roboto"/>
              </a:rPr>
              <a:t>outcomes</a:t>
            </a:r>
            <a:r>
              <a:rPr b="0" i="0" lang="en" sz="1300" u="none" cap="none" strike="noStrike">
                <a:solidFill>
                  <a:schemeClr val="lt1"/>
                </a:solidFill>
                <a:latin typeface="Roboto"/>
                <a:ea typeface="Roboto"/>
                <a:cs typeface="Roboto"/>
                <a:sym typeface="Roboto"/>
              </a:rPr>
              <a:t> of inputted statements</a:t>
            </a:r>
            <a:endParaRPr b="0" i="0" sz="1300" u="none" cap="none" strike="noStrike">
              <a:solidFill>
                <a:schemeClr val="lt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2"/>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title"/>
          </p:nvPr>
        </p:nvSpPr>
        <p:spPr>
          <a:xfrm>
            <a:off x="311725" y="500925"/>
            <a:ext cx="3706500" cy="2508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Statement Generation</a:t>
            </a:r>
            <a:endParaRPr/>
          </a:p>
        </p:txBody>
      </p:sp>
      <p:sp>
        <p:nvSpPr>
          <p:cNvPr id="105" name="Google Shape;105;p18"/>
          <p:cNvSpPr txBox="1"/>
          <p:nvPr>
            <p:ph idx="1" type="body"/>
          </p:nvPr>
        </p:nvSpPr>
        <p:spPr>
          <a:xfrm>
            <a:off x="4644675" y="626850"/>
            <a:ext cx="4166400" cy="4098600"/>
          </a:xfrm>
          <a:prstGeom prst="rect">
            <a:avLst/>
          </a:prstGeom>
          <a:noFill/>
          <a:ln>
            <a:noFill/>
          </a:ln>
        </p:spPr>
        <p:txBody>
          <a:bodyPr anchorCtr="0" anchor="t" bIns="91425" lIns="91425" spcFirstLastPara="1" rIns="91425" wrap="square" tIns="91425">
            <a:normAutofit/>
          </a:bodyPr>
          <a:lstStyle/>
          <a:p>
            <a:pPr indent="-311150" lvl="0" marL="457200" rtl="0" algn="l">
              <a:lnSpc>
                <a:spcPct val="115000"/>
              </a:lnSpc>
              <a:spcBef>
                <a:spcPts val="0"/>
              </a:spcBef>
              <a:spcAft>
                <a:spcPts val="0"/>
              </a:spcAft>
              <a:buSzPts val="1300"/>
              <a:buChar char="●"/>
            </a:pPr>
            <a:r>
              <a:rPr lang="en"/>
              <a:t>These agents will continuously </a:t>
            </a:r>
            <a:r>
              <a:rPr b="1" lang="en"/>
              <a:t>produce statements</a:t>
            </a:r>
            <a:r>
              <a:rPr lang="en"/>
              <a:t> about environment facts.</a:t>
            </a:r>
            <a:endParaRPr/>
          </a:p>
          <a:p>
            <a:pPr indent="0" lvl="0" marL="457200" rtl="0" algn="l">
              <a:lnSpc>
                <a:spcPct val="115000"/>
              </a:lnSpc>
              <a:spcBef>
                <a:spcPts val="1200"/>
              </a:spcBef>
              <a:spcAft>
                <a:spcPts val="0"/>
              </a:spcAft>
              <a:buSzPts val="1300"/>
              <a:buNone/>
            </a:pPr>
            <a:r>
              <a:rPr lang="en"/>
              <a:t> </a:t>
            </a:r>
            <a:endParaRPr/>
          </a:p>
          <a:p>
            <a:pPr indent="-311150" lvl="0" marL="457200" rtl="0" algn="l">
              <a:lnSpc>
                <a:spcPct val="115000"/>
              </a:lnSpc>
              <a:spcBef>
                <a:spcPts val="1200"/>
              </a:spcBef>
              <a:spcAft>
                <a:spcPts val="0"/>
              </a:spcAft>
              <a:buSzPts val="1300"/>
              <a:buChar char="●"/>
            </a:pPr>
            <a:r>
              <a:rPr lang="en"/>
              <a:t>These statements will be encoded in Narsese then </a:t>
            </a:r>
            <a:r>
              <a:rPr b="1" lang="en"/>
              <a:t>streamed into NARS</a:t>
            </a:r>
            <a:r>
              <a:rPr lang="en"/>
              <a:t> in a sequence</a:t>
            </a:r>
            <a:endParaRPr/>
          </a:p>
          <a:p>
            <a:pPr indent="0" lvl="0" marL="457200" rtl="0" algn="l">
              <a:lnSpc>
                <a:spcPct val="115000"/>
              </a:lnSpc>
              <a:spcBef>
                <a:spcPts val="1200"/>
              </a:spcBef>
              <a:spcAft>
                <a:spcPts val="0"/>
              </a:spcAft>
              <a:buSzPts val="1300"/>
              <a:buNone/>
            </a:pPr>
            <a:r>
              <a:t/>
            </a:r>
            <a:endParaRPr/>
          </a:p>
          <a:p>
            <a:pPr indent="-311150" lvl="0" marL="457200" rtl="0" algn="l">
              <a:lnSpc>
                <a:spcPct val="115000"/>
              </a:lnSpc>
              <a:spcBef>
                <a:spcPts val="1200"/>
              </a:spcBef>
              <a:spcAft>
                <a:spcPts val="0"/>
              </a:spcAft>
              <a:buSzPts val="1300"/>
              <a:buChar char="●"/>
            </a:pPr>
            <a:r>
              <a:rPr lang="en"/>
              <a:t>Each statement includes:</a:t>
            </a:r>
            <a:endParaRPr/>
          </a:p>
          <a:p>
            <a:pPr indent="-311150" lvl="0" marL="457200" rtl="0" algn="l">
              <a:lnSpc>
                <a:spcPct val="115000"/>
              </a:lnSpc>
              <a:spcBef>
                <a:spcPts val="0"/>
              </a:spcBef>
              <a:spcAft>
                <a:spcPts val="0"/>
              </a:spcAft>
              <a:buSzPts val="1300"/>
              <a:buChar char="-"/>
            </a:pPr>
            <a:r>
              <a:rPr lang="en"/>
              <a:t>The </a:t>
            </a:r>
            <a:r>
              <a:rPr b="1" lang="en"/>
              <a:t>proposition</a:t>
            </a:r>
            <a:r>
              <a:rPr lang="en"/>
              <a:t> asserted</a:t>
            </a:r>
            <a:endParaRPr/>
          </a:p>
          <a:p>
            <a:pPr indent="-311150" lvl="0" marL="457200" rtl="0" algn="l">
              <a:lnSpc>
                <a:spcPct val="115000"/>
              </a:lnSpc>
              <a:spcBef>
                <a:spcPts val="0"/>
              </a:spcBef>
              <a:spcAft>
                <a:spcPts val="0"/>
              </a:spcAft>
              <a:buSzPts val="1300"/>
              <a:buChar char="-"/>
            </a:pPr>
            <a:r>
              <a:rPr b="1" lang="en"/>
              <a:t>Truth value</a:t>
            </a:r>
            <a:r>
              <a:rPr lang="en"/>
              <a:t> (claimed by the agent)</a:t>
            </a:r>
            <a:endParaRPr/>
          </a:p>
          <a:p>
            <a:pPr indent="-311150" lvl="0" marL="457200" rtl="0" algn="l">
              <a:lnSpc>
                <a:spcPct val="115000"/>
              </a:lnSpc>
              <a:spcBef>
                <a:spcPts val="0"/>
              </a:spcBef>
              <a:spcAft>
                <a:spcPts val="0"/>
              </a:spcAft>
              <a:buSzPts val="1300"/>
              <a:buChar char="-"/>
            </a:pPr>
            <a:r>
              <a:rPr b="1" lang="en"/>
              <a:t>Source</a:t>
            </a:r>
            <a:r>
              <a:rPr lang="en"/>
              <a:t> (agent identity)</a:t>
            </a:r>
            <a:endParaRPr/>
          </a:p>
        </p:txBody>
      </p:sp>
      <p:pic>
        <p:nvPicPr>
          <p:cNvPr descr="/sessions/friendly-magical-bohr/temple_logo.png" id="106" name="Google Shape;106;p18"/>
          <p:cNvPicPr preferRelativeResize="0"/>
          <p:nvPr/>
        </p:nvPicPr>
        <p:blipFill rotWithShape="1">
          <a:blip r:embed="rId3">
            <a:alphaModFix/>
          </a:blip>
          <a:srcRect b="0" l="0" r="0" t="0"/>
          <a:stretch/>
        </p:blipFill>
        <p:spPr>
          <a:xfrm>
            <a:off x="7498080" y="137160"/>
            <a:ext cx="1463040" cy="329184"/>
          </a:xfrm>
          <a:prstGeom prst="rect">
            <a:avLst/>
          </a:prstGeom>
          <a:noFill/>
          <a:ln>
            <a:noFill/>
          </a:ln>
        </p:spPr>
      </p:pic>
      <p:sp>
        <p:nvSpPr>
          <p:cNvPr id="107" name="Google Shape;107;p18"/>
          <p:cNvSpPr txBox="1"/>
          <p:nvPr/>
        </p:nvSpPr>
        <p:spPr>
          <a:xfrm>
            <a:off x="339025" y="1946975"/>
            <a:ext cx="3709800" cy="118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lt1"/>
                </a:solidFill>
                <a:latin typeface="Roboto"/>
                <a:ea typeface="Roboto"/>
                <a:cs typeface="Roboto"/>
                <a:sym typeface="Roboto"/>
              </a:rPr>
              <a:t>Allows NARS to reason about the environment and </a:t>
            </a:r>
            <a:r>
              <a:rPr b="1" i="0" lang="en" sz="1300" u="sng" cap="none" strike="noStrike">
                <a:solidFill>
                  <a:schemeClr val="lt1"/>
                </a:solidFill>
                <a:latin typeface="Roboto"/>
                <a:ea typeface="Roboto"/>
                <a:cs typeface="Roboto"/>
                <a:sym typeface="Roboto"/>
              </a:rPr>
              <a:t>track credibility</a:t>
            </a:r>
            <a:r>
              <a:rPr b="0" i="0" lang="en" sz="1300" u="none" cap="none" strike="noStrike">
                <a:solidFill>
                  <a:schemeClr val="lt1"/>
                </a:solidFill>
                <a:latin typeface="Roboto"/>
                <a:ea typeface="Roboto"/>
                <a:cs typeface="Roboto"/>
                <a:sym typeface="Roboto"/>
              </a:rPr>
              <a:t> of the difference sources of information</a:t>
            </a:r>
            <a:endParaRPr b="0" i="0" sz="1300" u="none" cap="none" strike="noStrike">
              <a:solidFill>
                <a:schemeClr val="lt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title"/>
          </p:nvPr>
        </p:nvSpPr>
        <p:spPr>
          <a:xfrm>
            <a:off x="311725" y="500925"/>
            <a:ext cx="3706500" cy="2508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Metrics</a:t>
            </a:r>
            <a:endParaRPr/>
          </a:p>
        </p:txBody>
      </p:sp>
      <p:sp>
        <p:nvSpPr>
          <p:cNvPr id="113" name="Google Shape;113;p19"/>
          <p:cNvSpPr txBox="1"/>
          <p:nvPr>
            <p:ph idx="1" type="body"/>
          </p:nvPr>
        </p:nvSpPr>
        <p:spPr>
          <a:xfrm>
            <a:off x="4572000" y="522450"/>
            <a:ext cx="4166400" cy="4098600"/>
          </a:xfrm>
          <a:prstGeom prst="rect">
            <a:avLst/>
          </a:prstGeom>
          <a:noFill/>
          <a:ln>
            <a:noFill/>
          </a:ln>
        </p:spPr>
        <p:txBody>
          <a:bodyPr anchorCtr="0" anchor="t" bIns="91425" lIns="91425" spcFirstLastPara="1" rIns="91425" wrap="square" tIns="91425">
            <a:noAutofit/>
          </a:bodyPr>
          <a:lstStyle/>
          <a:p>
            <a:pPr indent="-298450" lvl="0" marL="457200" rtl="0" algn="l">
              <a:lnSpc>
                <a:spcPct val="105000"/>
              </a:lnSpc>
              <a:spcBef>
                <a:spcPts val="0"/>
              </a:spcBef>
              <a:spcAft>
                <a:spcPts val="0"/>
              </a:spcAft>
              <a:buClr>
                <a:schemeClr val="dk1"/>
              </a:buClr>
              <a:buSzPts val="1100"/>
              <a:buAutoNum type="arabicPeriod"/>
            </a:pPr>
            <a:r>
              <a:rPr b="1" lang="en" sz="1100">
                <a:solidFill>
                  <a:schemeClr val="dk1"/>
                </a:solidFill>
              </a:rPr>
              <a:t>Belief Accuracy</a:t>
            </a:r>
            <a:r>
              <a:rPr lang="en" sz="1100">
                <a:solidFill>
                  <a:schemeClr val="dk1"/>
                </a:solidFill>
              </a:rPr>
              <a:t> - measures how often NARS inferred beliefs track the ground-truth facts; Evaluated over time to determine how quickly the system converges to correct beliefs.</a:t>
            </a:r>
            <a:endParaRPr sz="1100">
              <a:solidFill>
                <a:schemeClr val="dk1"/>
              </a:solidFill>
            </a:endParaRPr>
          </a:p>
          <a:p>
            <a:pPr indent="0" lvl="0" marL="914400" rtl="0" algn="l">
              <a:lnSpc>
                <a:spcPct val="105000"/>
              </a:lnSpc>
              <a:spcBef>
                <a:spcPts val="0"/>
              </a:spcBef>
              <a:spcAft>
                <a:spcPts val="0"/>
              </a:spcAft>
              <a:buNone/>
            </a:pPr>
            <a:r>
              <a:t/>
            </a:r>
            <a:endParaRPr sz="1100">
              <a:solidFill>
                <a:schemeClr val="dk1"/>
              </a:solidFill>
            </a:endParaRPr>
          </a:p>
          <a:p>
            <a:pPr indent="-298450" lvl="0" marL="457200" rtl="0" algn="l">
              <a:lnSpc>
                <a:spcPct val="105000"/>
              </a:lnSpc>
              <a:spcBef>
                <a:spcPts val="0"/>
              </a:spcBef>
              <a:spcAft>
                <a:spcPts val="0"/>
              </a:spcAft>
              <a:buClr>
                <a:schemeClr val="dk1"/>
              </a:buClr>
              <a:buSzPts val="1100"/>
              <a:buAutoNum type="arabicPeriod"/>
            </a:pPr>
            <a:r>
              <a:rPr b="1" lang="en" sz="1100">
                <a:solidFill>
                  <a:schemeClr val="dk1"/>
                </a:solidFill>
              </a:rPr>
              <a:t>Confidence Evolution</a:t>
            </a:r>
            <a:r>
              <a:rPr lang="en" sz="1100">
                <a:solidFill>
                  <a:schemeClr val="dk1"/>
                </a:solidFill>
              </a:rPr>
              <a:t> - tracks how NARS confidence values for beliefs change as more evidence is accumulated; Evaluates whether there is </a:t>
            </a:r>
            <a:r>
              <a:rPr b="1" lang="en" sz="1100">
                <a:solidFill>
                  <a:schemeClr val="dk1"/>
                </a:solidFill>
              </a:rPr>
              <a:t>increase in confidence for correct beliefs </a:t>
            </a:r>
            <a:r>
              <a:rPr lang="en" sz="1100">
                <a:solidFill>
                  <a:schemeClr val="dk1"/>
                </a:solidFill>
              </a:rPr>
              <a:t>and </a:t>
            </a:r>
            <a:r>
              <a:rPr b="1" lang="en" sz="1100">
                <a:solidFill>
                  <a:schemeClr val="dk1"/>
                </a:solidFill>
              </a:rPr>
              <a:t>decrease confidence when conflicting evidence appears</a:t>
            </a:r>
            <a:endParaRPr sz="1100">
              <a:solidFill>
                <a:schemeClr val="dk1"/>
              </a:solidFill>
            </a:endParaRPr>
          </a:p>
          <a:p>
            <a:pPr indent="0" lvl="0" marL="914400" rtl="0" algn="l">
              <a:lnSpc>
                <a:spcPct val="105000"/>
              </a:lnSpc>
              <a:spcBef>
                <a:spcPts val="0"/>
              </a:spcBef>
              <a:spcAft>
                <a:spcPts val="0"/>
              </a:spcAft>
              <a:buNone/>
            </a:pPr>
            <a:r>
              <a:t/>
            </a:r>
            <a:endParaRPr sz="1100">
              <a:solidFill>
                <a:schemeClr val="dk1"/>
              </a:solidFill>
            </a:endParaRPr>
          </a:p>
          <a:p>
            <a:pPr indent="-298450" lvl="0" marL="457200" rtl="0" algn="l">
              <a:lnSpc>
                <a:spcPct val="105000"/>
              </a:lnSpc>
              <a:spcBef>
                <a:spcPts val="0"/>
              </a:spcBef>
              <a:spcAft>
                <a:spcPts val="0"/>
              </a:spcAft>
              <a:buClr>
                <a:schemeClr val="dk1"/>
              </a:buClr>
              <a:buSzPts val="1100"/>
              <a:buAutoNum type="arabicPeriod"/>
            </a:pPr>
            <a:r>
              <a:rPr b="1" lang="en" sz="1100">
                <a:solidFill>
                  <a:schemeClr val="dk1"/>
                </a:solidFill>
              </a:rPr>
              <a:t>Trust Inference</a:t>
            </a:r>
            <a:r>
              <a:rPr lang="en" sz="1100">
                <a:solidFill>
                  <a:schemeClr val="dk1"/>
                </a:solidFill>
              </a:rPr>
              <a:t> - measures ability of NARS to be able to distinguish between reliable and unreliable agents; Evaluates how NARS weights information from different sources over time and sees if it favors truthful agents while discounting deceptive ones.</a:t>
            </a:r>
            <a:endParaRPr sz="1100">
              <a:solidFill>
                <a:schemeClr val="dk1"/>
              </a:solidFill>
            </a:endParaRPr>
          </a:p>
          <a:p>
            <a:pPr indent="0" lvl="0" marL="914400" rtl="0" algn="l">
              <a:lnSpc>
                <a:spcPct val="105000"/>
              </a:lnSpc>
              <a:spcBef>
                <a:spcPts val="0"/>
              </a:spcBef>
              <a:spcAft>
                <a:spcPts val="0"/>
              </a:spcAft>
              <a:buNone/>
            </a:pPr>
            <a:r>
              <a:t/>
            </a:r>
            <a:endParaRPr sz="1100">
              <a:solidFill>
                <a:schemeClr val="dk1"/>
              </a:solidFill>
            </a:endParaRPr>
          </a:p>
          <a:p>
            <a:pPr indent="-298450" lvl="0" marL="457200" rtl="0" algn="l">
              <a:lnSpc>
                <a:spcPct val="105000"/>
              </a:lnSpc>
              <a:spcBef>
                <a:spcPts val="0"/>
              </a:spcBef>
              <a:spcAft>
                <a:spcPts val="0"/>
              </a:spcAft>
              <a:buClr>
                <a:schemeClr val="dk1"/>
              </a:buClr>
              <a:buSzPts val="1100"/>
              <a:buAutoNum type="arabicPeriod"/>
            </a:pPr>
            <a:r>
              <a:rPr b="1" lang="en" sz="1100">
                <a:solidFill>
                  <a:srgbClr val="000000"/>
                </a:solidFill>
                <a:latin typeface="Arial"/>
                <a:ea typeface="Arial"/>
                <a:cs typeface="Arial"/>
                <a:sym typeface="Arial"/>
              </a:rPr>
              <a:t>Misinformation Resistance</a:t>
            </a:r>
            <a:endParaRPr b="1" sz="1100">
              <a:solidFill>
                <a:srgbClr val="000000"/>
              </a:solidFill>
              <a:latin typeface="Arial"/>
              <a:ea typeface="Arial"/>
              <a:cs typeface="Arial"/>
              <a:sym typeface="Arial"/>
            </a:endParaRPr>
          </a:p>
          <a:p>
            <a:pPr indent="0" lvl="0" marL="457200" rtl="0" algn="l">
              <a:lnSpc>
                <a:spcPct val="105000"/>
              </a:lnSpc>
              <a:spcBef>
                <a:spcPts val="0"/>
              </a:spcBef>
              <a:spcAft>
                <a:spcPts val="1200"/>
              </a:spcAft>
              <a:buSzPts val="853"/>
              <a:buNone/>
            </a:pPr>
            <a:r>
              <a:rPr lang="en" sz="1100">
                <a:solidFill>
                  <a:srgbClr val="000000"/>
                </a:solidFill>
                <a:latin typeface="Arial"/>
                <a:ea typeface="Arial"/>
                <a:cs typeface="Arial"/>
                <a:sym typeface="Arial"/>
              </a:rPr>
              <a:t>This refers to the system’s ability to stay accurate even when some agents provide false or misleading information. A higher score means the system can ignore bad input better and still keep correct beliefs.</a:t>
            </a:r>
            <a:endParaRPr sz="1100">
              <a:solidFill>
                <a:schemeClr val="dk1"/>
              </a:solidFill>
            </a:endParaRPr>
          </a:p>
        </p:txBody>
      </p:sp>
      <p:pic>
        <p:nvPicPr>
          <p:cNvPr descr="/sessions/friendly-magical-bohr/temple_logo.png" id="114" name="Google Shape;114;p19"/>
          <p:cNvPicPr preferRelativeResize="0"/>
          <p:nvPr/>
        </p:nvPicPr>
        <p:blipFill rotWithShape="1">
          <a:blip r:embed="rId3">
            <a:alphaModFix/>
          </a:blip>
          <a:srcRect b="0" l="0" r="0" t="0"/>
          <a:stretch/>
        </p:blipFill>
        <p:spPr>
          <a:xfrm>
            <a:off x="7498080" y="137160"/>
            <a:ext cx="1463040" cy="32918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ph type="title"/>
          </p:nvPr>
        </p:nvSpPr>
        <p:spPr>
          <a:xfrm>
            <a:off x="311725" y="500925"/>
            <a:ext cx="3706500" cy="2508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Hypothesis</a:t>
            </a:r>
            <a:endParaRPr/>
          </a:p>
        </p:txBody>
      </p:sp>
      <p:sp>
        <p:nvSpPr>
          <p:cNvPr id="120" name="Google Shape;120;p20"/>
          <p:cNvSpPr txBox="1"/>
          <p:nvPr>
            <p:ph idx="1" type="body"/>
          </p:nvPr>
        </p:nvSpPr>
        <p:spPr>
          <a:xfrm>
            <a:off x="4644675" y="500925"/>
            <a:ext cx="4166400" cy="4098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300"/>
              <a:buNone/>
            </a:pPr>
            <a:r>
              <a:rPr lang="en">
                <a:solidFill>
                  <a:schemeClr val="dk1"/>
                </a:solidFill>
              </a:rPr>
              <a:t>My hypothesis is that NARS should be able to </a:t>
            </a:r>
            <a:r>
              <a:rPr b="1" lang="en">
                <a:solidFill>
                  <a:schemeClr val="dk1"/>
                </a:solidFill>
              </a:rPr>
              <a:t>maintain a reasonable belief accuracy</a:t>
            </a:r>
            <a:r>
              <a:rPr lang="en">
                <a:solidFill>
                  <a:schemeClr val="dk1"/>
                </a:solidFill>
              </a:rPr>
              <a:t> even in the presence of deceptive and noisy information. </a:t>
            </a:r>
            <a:endParaRPr>
              <a:solidFill>
                <a:schemeClr val="dk1"/>
              </a:solidFill>
            </a:endParaRPr>
          </a:p>
          <a:p>
            <a:pPr indent="0" lvl="0" marL="0" rtl="0" algn="l">
              <a:lnSpc>
                <a:spcPct val="115000"/>
              </a:lnSpc>
              <a:spcBef>
                <a:spcPts val="1200"/>
              </a:spcBef>
              <a:spcAft>
                <a:spcPts val="1200"/>
              </a:spcAft>
              <a:buSzPts val="1300"/>
              <a:buNone/>
            </a:pPr>
            <a:r>
              <a:rPr lang="en">
                <a:solidFill>
                  <a:schemeClr val="dk1"/>
                </a:solidFill>
              </a:rPr>
              <a:t>Additionally, it should </a:t>
            </a:r>
            <a:r>
              <a:rPr b="1" lang="en">
                <a:solidFill>
                  <a:schemeClr val="dk1"/>
                </a:solidFill>
              </a:rPr>
              <a:t>demonstrate adaptive trust inference</a:t>
            </a:r>
            <a:r>
              <a:rPr lang="en">
                <a:solidFill>
                  <a:schemeClr val="dk1"/>
                </a:solidFill>
              </a:rPr>
              <a:t>, where reliable agents should be gradually identified and also given more influence in the reasoning process.</a:t>
            </a:r>
            <a:endParaRPr>
              <a:solidFill>
                <a:schemeClr val="dk1"/>
              </a:solidFill>
            </a:endParaRPr>
          </a:p>
        </p:txBody>
      </p:sp>
      <p:pic>
        <p:nvPicPr>
          <p:cNvPr descr="/sessions/friendly-magical-bohr/temple_logo.png" id="121" name="Google Shape;121;p20"/>
          <p:cNvPicPr preferRelativeResize="0"/>
          <p:nvPr/>
        </p:nvPicPr>
        <p:blipFill rotWithShape="1">
          <a:blip r:embed="rId3">
            <a:alphaModFix/>
          </a:blip>
          <a:srcRect b="0" l="0" r="0" t="0"/>
          <a:stretch/>
        </p:blipFill>
        <p:spPr>
          <a:xfrm>
            <a:off x="7498080" y="137160"/>
            <a:ext cx="1463040" cy="329184"/>
          </a:xfrm>
          <a:prstGeom prst="rect">
            <a:avLst/>
          </a:prstGeom>
          <a:noFill/>
          <a:ln>
            <a:noFill/>
          </a:ln>
        </p:spPr>
      </p:pic>
      <p:sp>
        <p:nvSpPr>
          <p:cNvPr id="122" name="Google Shape;122;p20"/>
          <p:cNvSpPr txBox="1"/>
          <p:nvPr/>
        </p:nvSpPr>
        <p:spPr>
          <a:xfrm>
            <a:off x="329575" y="1488125"/>
            <a:ext cx="3695400" cy="1647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chemeClr val="lt1"/>
                </a:solidFill>
                <a:latin typeface="Roboto"/>
                <a:ea typeface="Roboto"/>
                <a:cs typeface="Roboto"/>
                <a:sym typeface="Roboto"/>
              </a:rPr>
              <a:t>I will compare my actual results against this hypothesis </a:t>
            </a:r>
            <a:endParaRPr b="0" i="0" sz="1300" u="none" cap="none" strike="noStrike">
              <a:solidFill>
                <a:schemeClr val="lt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ph idx="1" type="body"/>
          </p:nvPr>
        </p:nvSpPr>
        <p:spPr>
          <a:xfrm>
            <a:off x="263275" y="3455650"/>
            <a:ext cx="5998800" cy="605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4000">
                <a:solidFill>
                  <a:schemeClr val="dk1"/>
                </a:solidFill>
              </a:rPr>
              <a:t>Experiment Results</a:t>
            </a:r>
            <a:endParaRPr sz="4000">
              <a:solidFill>
                <a:schemeClr val="dk1"/>
              </a:solidFill>
            </a:endParaRPr>
          </a:p>
        </p:txBody>
      </p:sp>
      <p:pic>
        <p:nvPicPr>
          <p:cNvPr descr="/sessions/friendly-magical-bohr/temple_logo.png" id="128" name="Google Shape;128;p21"/>
          <p:cNvPicPr preferRelativeResize="0"/>
          <p:nvPr/>
        </p:nvPicPr>
        <p:blipFill rotWithShape="1">
          <a:blip r:embed="rId3">
            <a:alphaModFix/>
          </a:blip>
          <a:srcRect b="0" l="0" r="0" t="0"/>
          <a:stretch/>
        </p:blipFill>
        <p:spPr>
          <a:xfrm>
            <a:off x="7498080" y="137160"/>
            <a:ext cx="1463040" cy="32918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ph idx="1" type="body"/>
          </p:nvPr>
        </p:nvSpPr>
        <p:spPr>
          <a:xfrm>
            <a:off x="4640825" y="3715325"/>
            <a:ext cx="4176900" cy="1533300"/>
          </a:xfrm>
          <a:prstGeom prst="rect">
            <a:avLst/>
          </a:prstGeom>
          <a:noFill/>
          <a:ln>
            <a:noFill/>
          </a:ln>
        </p:spPr>
        <p:txBody>
          <a:bodyPr anchorCtr="0" anchor="t" bIns="91425" lIns="91425" spcFirstLastPara="1" rIns="91425" wrap="square" tIns="91425">
            <a:normAutofit/>
          </a:bodyPr>
          <a:lstStyle/>
          <a:p>
            <a:pPr indent="-298450" lvl="0" marL="457200" rtl="0" algn="l">
              <a:lnSpc>
                <a:spcPct val="115000"/>
              </a:lnSpc>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The system seems to correctly distinguish between agent behaviors</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Reliability scores reflect underlying agent strategies</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Provides a foundation for trust inference in NARS</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a:p>
        </p:txBody>
      </p:sp>
      <p:sp>
        <p:nvSpPr>
          <p:cNvPr id="134" name="Google Shape;134;p22"/>
          <p:cNvSpPr txBox="1"/>
          <p:nvPr>
            <p:ph type="title"/>
          </p:nvPr>
        </p:nvSpPr>
        <p:spPr>
          <a:xfrm>
            <a:off x="311725" y="500925"/>
            <a:ext cx="3706500" cy="2508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Results </a:t>
            </a:r>
            <a:endParaRPr/>
          </a:p>
        </p:txBody>
      </p:sp>
      <p:pic>
        <p:nvPicPr>
          <p:cNvPr id="135" name="Google Shape;135;p22"/>
          <p:cNvPicPr preferRelativeResize="0"/>
          <p:nvPr/>
        </p:nvPicPr>
        <p:blipFill rotWithShape="1">
          <a:blip r:embed="rId3">
            <a:alphaModFix/>
          </a:blip>
          <a:srcRect b="0" l="0" r="0" t="0"/>
          <a:stretch/>
        </p:blipFill>
        <p:spPr>
          <a:xfrm>
            <a:off x="4314550" y="425538"/>
            <a:ext cx="4829450" cy="3240725"/>
          </a:xfrm>
          <a:prstGeom prst="rect">
            <a:avLst/>
          </a:prstGeom>
          <a:noFill/>
          <a:ln>
            <a:noFill/>
          </a:ln>
        </p:spPr>
      </p:pic>
      <p:sp>
        <p:nvSpPr>
          <p:cNvPr id="136" name="Google Shape;136;p22"/>
          <p:cNvSpPr txBox="1"/>
          <p:nvPr/>
        </p:nvSpPr>
        <p:spPr>
          <a:xfrm>
            <a:off x="199750" y="1168525"/>
            <a:ext cx="3984900" cy="1967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1200"/>
              </a:spcAft>
              <a:buClr>
                <a:srgbClr val="000000"/>
              </a:buClr>
              <a:buSzPts val="1100"/>
              <a:buFont typeface="Arial"/>
              <a:buNone/>
            </a:pPr>
            <a:r>
              <a:rPr b="0" i="0" lang="en" sz="1100" u="none" cap="none" strike="noStrike">
                <a:solidFill>
                  <a:schemeClr val="lt1"/>
                </a:solidFill>
                <a:latin typeface="Arial"/>
                <a:ea typeface="Arial"/>
                <a:cs typeface="Arial"/>
                <a:sym typeface="Arial"/>
              </a:rPr>
              <a:t>Demonstrates ability to quantify source trustworthiness and Supports evaluation of reasoning under social uncertainty</a:t>
            </a:r>
            <a:endParaRPr b="0" i="0" sz="1300" u="none" cap="none" strike="noStrike">
              <a:solidFill>
                <a:schemeClr val="lt1"/>
              </a:solidFill>
              <a:latin typeface="Roboto"/>
              <a:ea typeface="Roboto"/>
              <a:cs typeface="Roboto"/>
              <a:sym typeface="Roboto"/>
            </a:endParaRPr>
          </a:p>
        </p:txBody>
      </p:sp>
      <p:pic>
        <p:nvPicPr>
          <p:cNvPr descr="/sessions/friendly-magical-bohr/temple_logo.png" id="137" name="Google Shape;137;p22"/>
          <p:cNvPicPr preferRelativeResize="0"/>
          <p:nvPr/>
        </p:nvPicPr>
        <p:blipFill rotWithShape="1">
          <a:blip r:embed="rId4">
            <a:alphaModFix/>
          </a:blip>
          <a:srcRect b="0" l="0" r="0" t="0"/>
          <a:stretch/>
        </p:blipFill>
        <p:spPr>
          <a:xfrm>
            <a:off x="7680955" y="47285"/>
            <a:ext cx="1463040" cy="32918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ph idx="4294967295" type="title"/>
          </p:nvPr>
        </p:nvSpPr>
        <p:spPr>
          <a:xfrm>
            <a:off x="0" y="0"/>
            <a:ext cx="3706500" cy="2508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Results</a:t>
            </a:r>
            <a:endParaRPr/>
          </a:p>
        </p:txBody>
      </p:sp>
      <p:sp>
        <p:nvSpPr>
          <p:cNvPr id="143" name="Google Shape;143;p23"/>
          <p:cNvSpPr txBox="1"/>
          <p:nvPr>
            <p:ph idx="4294967295" type="body"/>
          </p:nvPr>
        </p:nvSpPr>
        <p:spPr>
          <a:xfrm>
            <a:off x="4664650" y="730625"/>
            <a:ext cx="4166400" cy="40986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1200"/>
              </a:spcBef>
              <a:spcAft>
                <a:spcPts val="0"/>
              </a:spcAft>
              <a:buSzPts val="1300"/>
              <a:buNone/>
            </a:pPr>
            <a:r>
              <a:rPr b="1" lang="en" sz="1100">
                <a:solidFill>
                  <a:srgbClr val="000000"/>
                </a:solidFill>
                <a:latin typeface="Arial"/>
                <a:ea typeface="Arial"/>
                <a:cs typeface="Arial"/>
                <a:sym typeface="Arial"/>
              </a:rPr>
              <a:t>Belief Accuracy</a:t>
            </a:r>
            <a:endParaRPr b="1" sz="11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Overall belief accuracy reflects system’s ability to handle mixed information</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Performance remains stable despite presence of noise and deception</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b="1" lang="en" sz="1100">
                <a:solidFill>
                  <a:srgbClr val="000000"/>
                </a:solidFill>
                <a:latin typeface="Arial"/>
                <a:ea typeface="Arial"/>
                <a:cs typeface="Arial"/>
                <a:sym typeface="Arial"/>
              </a:rPr>
              <a:t>Trust Inference Capability</a:t>
            </a:r>
            <a:endParaRPr b="1" sz="11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System seem to effectively approximates true reliability of agents</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Trust inference score indicates how well the system distinguishes agent types</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rPr b="1" lang="en" sz="1100">
                <a:solidFill>
                  <a:srgbClr val="000000"/>
                </a:solidFill>
                <a:latin typeface="Arial"/>
                <a:ea typeface="Arial"/>
                <a:cs typeface="Arial"/>
                <a:sym typeface="Arial"/>
              </a:rPr>
              <a:t>Misinformation Resistance</a:t>
            </a:r>
            <a:endParaRPr b="1" sz="1100">
              <a:solidFill>
                <a:srgbClr val="000000"/>
              </a:solidFill>
              <a:latin typeface="Arial"/>
              <a:ea typeface="Arial"/>
              <a:cs typeface="Arial"/>
              <a:sym typeface="Arial"/>
            </a:endParaRPr>
          </a:p>
          <a:p>
            <a:pPr indent="-298450" lvl="0" marL="457200" rtl="0" algn="l">
              <a:lnSpc>
                <a:spcPct val="115000"/>
              </a:lnSpc>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System maintains a reasonable level of correct beliefs even under misleading input</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Shows robustness against adversarial or noisy information</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SzPts val="1300"/>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a:p>
        </p:txBody>
      </p:sp>
      <p:pic>
        <p:nvPicPr>
          <p:cNvPr id="144" name="Google Shape;144;p23"/>
          <p:cNvPicPr preferRelativeResize="0"/>
          <p:nvPr/>
        </p:nvPicPr>
        <p:blipFill rotWithShape="1">
          <a:blip r:embed="rId3">
            <a:alphaModFix/>
          </a:blip>
          <a:srcRect b="0" l="0" r="0" t="0"/>
          <a:stretch/>
        </p:blipFill>
        <p:spPr>
          <a:xfrm>
            <a:off x="45300" y="585500"/>
            <a:ext cx="4319726" cy="3209700"/>
          </a:xfrm>
          <a:prstGeom prst="rect">
            <a:avLst/>
          </a:prstGeom>
          <a:noFill/>
          <a:ln>
            <a:noFill/>
          </a:ln>
        </p:spPr>
      </p:pic>
      <p:pic>
        <p:nvPicPr>
          <p:cNvPr descr="/sessions/friendly-magical-bohr/temple_logo.png" id="145" name="Google Shape;145;p23"/>
          <p:cNvPicPr preferRelativeResize="0"/>
          <p:nvPr/>
        </p:nvPicPr>
        <p:blipFill rotWithShape="1">
          <a:blip r:embed="rId4">
            <a:alphaModFix/>
          </a:blip>
          <a:srcRect b="0" l="0" r="0" t="0"/>
          <a:stretch/>
        </p:blipFill>
        <p:spPr>
          <a:xfrm>
            <a:off x="7680955" y="47285"/>
            <a:ext cx="1463040" cy="32918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4"/>
          <p:cNvPicPr preferRelativeResize="0"/>
          <p:nvPr/>
        </p:nvPicPr>
        <p:blipFill rotWithShape="1">
          <a:blip r:embed="rId3">
            <a:alphaModFix/>
          </a:blip>
          <a:srcRect b="0" l="0" r="0" t="0"/>
          <a:stretch/>
        </p:blipFill>
        <p:spPr>
          <a:xfrm>
            <a:off x="59900" y="909125"/>
            <a:ext cx="5574051" cy="3874825"/>
          </a:xfrm>
          <a:prstGeom prst="rect">
            <a:avLst/>
          </a:prstGeom>
          <a:noFill/>
          <a:ln>
            <a:noFill/>
          </a:ln>
        </p:spPr>
      </p:pic>
      <p:sp>
        <p:nvSpPr>
          <p:cNvPr id="151" name="Google Shape;151;p24"/>
          <p:cNvSpPr txBox="1"/>
          <p:nvPr/>
        </p:nvSpPr>
        <p:spPr>
          <a:xfrm>
            <a:off x="49925" y="39950"/>
            <a:ext cx="3315900" cy="73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chemeClr val="accent1"/>
                </a:solidFill>
                <a:latin typeface="Merriweather"/>
                <a:ea typeface="Merriweather"/>
                <a:cs typeface="Merriweather"/>
                <a:sym typeface="Merriweather"/>
              </a:rPr>
              <a:t>Results</a:t>
            </a:r>
            <a:endParaRPr b="0" i="0" sz="2800" u="none" cap="none" strike="noStrike">
              <a:solidFill>
                <a:schemeClr val="accent1"/>
              </a:solidFill>
              <a:latin typeface="Merriweather"/>
              <a:ea typeface="Merriweather"/>
              <a:cs typeface="Merriweather"/>
              <a:sym typeface="Merriweather"/>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2"/>
              </a:solidFill>
              <a:latin typeface="Roboto"/>
              <a:ea typeface="Roboto"/>
              <a:cs typeface="Roboto"/>
              <a:sym typeface="Roboto"/>
            </a:endParaRPr>
          </a:p>
        </p:txBody>
      </p:sp>
      <p:pic>
        <p:nvPicPr>
          <p:cNvPr descr="/sessions/friendly-magical-bohr/temple_logo.png" id="152" name="Google Shape;152;p24"/>
          <p:cNvPicPr preferRelativeResize="0"/>
          <p:nvPr/>
        </p:nvPicPr>
        <p:blipFill rotWithShape="1">
          <a:blip r:embed="rId4">
            <a:alphaModFix/>
          </a:blip>
          <a:srcRect b="0" l="0" r="0" t="0"/>
          <a:stretch/>
        </p:blipFill>
        <p:spPr>
          <a:xfrm>
            <a:off x="7680955" y="47285"/>
            <a:ext cx="1463040" cy="329184"/>
          </a:xfrm>
          <a:prstGeom prst="rect">
            <a:avLst/>
          </a:prstGeom>
          <a:noFill/>
          <a:ln>
            <a:noFill/>
          </a:ln>
        </p:spPr>
      </p:pic>
      <p:sp>
        <p:nvSpPr>
          <p:cNvPr id="153" name="Google Shape;153;p24"/>
          <p:cNvSpPr txBox="1"/>
          <p:nvPr/>
        </p:nvSpPr>
        <p:spPr>
          <a:xfrm>
            <a:off x="5682825" y="1100350"/>
            <a:ext cx="3235800" cy="1481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Confidence &amp; Belief Formation</a:t>
            </a:r>
            <a:endParaRPr b="1" i="0" sz="1100" u="none" cap="none" strike="noStrike">
              <a:solidFill>
                <a:srgbClr val="000000"/>
              </a:solidFill>
              <a:latin typeface="Arial"/>
              <a:ea typeface="Arial"/>
              <a:cs typeface="Arial"/>
              <a:sym typeface="Arial"/>
            </a:endParaRPr>
          </a:p>
          <a:p>
            <a:pPr indent="-298450" lvl="0" marL="457200" marR="0" rtl="0" algn="l">
              <a:lnSpc>
                <a:spcPct val="115000"/>
              </a:lnSpc>
              <a:spcBef>
                <a:spcPts val="120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Confidence values seem to align with frequency of supporting vs. contradicting evidence</a:t>
            </a:r>
            <a:endParaRPr b="0" i="0" sz="1100" u="none" cap="none" strike="noStrike">
              <a:solidFill>
                <a:srgbClr val="000000"/>
              </a:solidFill>
              <a:latin typeface="Arial"/>
              <a:ea typeface="Arial"/>
              <a:cs typeface="Arial"/>
              <a:sym typeface="Arial"/>
            </a:endParaRPr>
          </a:p>
          <a:p>
            <a:pPr indent="-298450" lvl="0" marL="457200" marR="0" rtl="0" algn="l">
              <a:lnSpc>
                <a:spcPct val="115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Demonstrates gradual strengthening or weakening of beliefs over time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idx="1" type="body"/>
          </p:nvPr>
        </p:nvSpPr>
        <p:spPr>
          <a:xfrm>
            <a:off x="263275" y="3455650"/>
            <a:ext cx="5998800" cy="605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4000">
                <a:solidFill>
                  <a:schemeClr val="dk1"/>
                </a:solidFill>
              </a:rPr>
              <a:t>Conclusion</a:t>
            </a:r>
            <a:endParaRPr sz="4000">
              <a:solidFill>
                <a:schemeClr val="dk1"/>
              </a:solidFill>
            </a:endParaRPr>
          </a:p>
        </p:txBody>
      </p:sp>
      <p:pic>
        <p:nvPicPr>
          <p:cNvPr descr="/sessions/friendly-magical-bohr/temple_logo.png" id="159" name="Google Shape;159;p25"/>
          <p:cNvPicPr preferRelativeResize="0"/>
          <p:nvPr/>
        </p:nvPicPr>
        <p:blipFill rotWithShape="1">
          <a:blip r:embed="rId3">
            <a:alphaModFix/>
          </a:blip>
          <a:srcRect b="0" l="0" r="0" t="0"/>
          <a:stretch/>
        </p:blipFill>
        <p:spPr>
          <a:xfrm>
            <a:off x="7498080" y="137160"/>
            <a:ext cx="1463040" cy="329184"/>
          </a:xfrm>
          <a:prstGeom prst="rect">
            <a:avLst/>
          </a:prstGeom>
          <a:noFill/>
          <a:ln>
            <a:noFill/>
          </a:ln>
        </p:spPr>
      </p:pic>
      <p:sp>
        <p:nvSpPr>
          <p:cNvPr id="160" name="Google Shape;160;p25"/>
          <p:cNvSpPr txBox="1"/>
          <p:nvPr/>
        </p:nvSpPr>
        <p:spPr>
          <a:xfrm>
            <a:off x="263275" y="739150"/>
            <a:ext cx="6641700" cy="2716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a:solidFill>
                  <a:schemeClr val="dk1"/>
                </a:solidFill>
                <a:latin typeface="Roboto"/>
                <a:ea typeface="Roboto"/>
                <a:cs typeface="Roboto"/>
                <a:sym typeface="Roboto"/>
              </a:rPr>
              <a:t>The results seem to support the hypothesis as NARS maintained strong belief accuracy despite noisy and deceptive inputs. The system successfully distinguished between reliable and unreliable agents, trust inference improved over time, with more accurate sources having greater influence.</a:t>
            </a:r>
            <a:endParaRPr sz="1300">
              <a:solidFill>
                <a:schemeClr val="dk1"/>
              </a:solidFill>
              <a:latin typeface="Roboto"/>
              <a:ea typeface="Roboto"/>
              <a:cs typeface="Roboto"/>
              <a:sym typeface="Roboto"/>
            </a:endParaRPr>
          </a:p>
          <a:p>
            <a:pPr indent="0" lvl="0" marL="0" rtl="0" algn="l">
              <a:lnSpc>
                <a:spcPct val="115000"/>
              </a:lnSpc>
              <a:spcBef>
                <a:spcPts val="0"/>
              </a:spcBef>
              <a:spcAft>
                <a:spcPts val="0"/>
              </a:spcAft>
              <a:buNone/>
            </a:pPr>
            <a:r>
              <a:rPr lang="en" sz="1300">
                <a:solidFill>
                  <a:schemeClr val="dk1"/>
                </a:solidFill>
                <a:latin typeface="Roboto"/>
                <a:ea typeface="Roboto"/>
                <a:cs typeface="Roboto"/>
                <a:sym typeface="Roboto"/>
              </a:rPr>
              <a:t>So it seems the system demonstrated robustness in reasoning under social uncertainty but only off of a few statements.</a:t>
            </a:r>
            <a:endParaRPr sz="1300">
              <a:solidFill>
                <a:schemeClr val="dk1"/>
              </a:solidFill>
              <a:latin typeface="Roboto"/>
              <a:ea typeface="Roboto"/>
              <a:cs typeface="Roboto"/>
              <a:sym typeface="Roboto"/>
            </a:endParaRPr>
          </a:p>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6"/>
          <p:cNvSpPr txBox="1"/>
          <p:nvPr>
            <p:ph idx="2" type="body"/>
          </p:nvPr>
        </p:nvSpPr>
        <p:spPr>
          <a:xfrm>
            <a:off x="4879025" y="500925"/>
            <a:ext cx="3954000" cy="4111500"/>
          </a:xfrm>
          <a:prstGeom prst="rect">
            <a:avLst/>
          </a:prstGeom>
          <a:noFill/>
          <a:ln>
            <a:noFill/>
          </a:ln>
        </p:spPr>
        <p:txBody>
          <a:bodyPr anchorCtr="0" anchor="t" bIns="91425" lIns="91425" spcFirstLastPara="1" rIns="91425" wrap="square" tIns="91425">
            <a:normAutofit lnSpcReduction="10000"/>
          </a:bodyPr>
          <a:lstStyle/>
          <a:p>
            <a:pPr indent="-298450" lvl="0" marL="457200" rtl="0" algn="l">
              <a:lnSpc>
                <a:spcPct val="115000"/>
              </a:lnSpc>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Run more experiment conditions, especially baseline, mixed, and adversarial cases: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Baseline</a:t>
            </a:r>
            <a:r>
              <a:rPr lang="en" sz="1100">
                <a:solidFill>
                  <a:srgbClr val="000000"/>
                </a:solidFill>
                <a:latin typeface="Arial"/>
                <a:ea typeface="Arial"/>
                <a:cs typeface="Arial"/>
                <a:sym typeface="Arial"/>
              </a:rPr>
              <a:t>: all agents truthful (ideal case)</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Mixed</a:t>
            </a:r>
            <a:r>
              <a:rPr lang="en" sz="1100">
                <a:solidFill>
                  <a:srgbClr val="000000"/>
                </a:solidFill>
                <a:latin typeface="Arial"/>
                <a:ea typeface="Arial"/>
                <a:cs typeface="Arial"/>
                <a:sym typeface="Arial"/>
              </a:rPr>
              <a:t>: combination of truthful, noisy, and deceptive agents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Adversarial</a:t>
            </a:r>
            <a:r>
              <a:rPr lang="en" sz="1100">
                <a:solidFill>
                  <a:srgbClr val="000000"/>
                </a:solidFill>
                <a:latin typeface="Arial"/>
                <a:ea typeface="Arial"/>
                <a:cs typeface="Arial"/>
                <a:sym typeface="Arial"/>
              </a:rPr>
              <a:t>: majority deceptive agents to stress-test the system</a:t>
            </a:r>
            <a:endParaRPr sz="1100">
              <a:solidFill>
                <a:srgbClr val="000000"/>
              </a:solidFill>
              <a:latin typeface="Arial"/>
              <a:ea typeface="Arial"/>
              <a:cs typeface="Arial"/>
              <a:sym typeface="Arial"/>
            </a:endParaRPr>
          </a:p>
          <a:p>
            <a:pPr indent="0" lvl="0" marL="457200" rtl="0" algn="l">
              <a:spcBef>
                <a:spcPts val="0"/>
              </a:spcBef>
              <a:spcAft>
                <a:spcPts val="0"/>
              </a:spcAft>
              <a:buNone/>
            </a:pPr>
            <a:r>
              <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Track metrics over time</a:t>
            </a:r>
            <a:r>
              <a:rPr lang="en" sz="1100">
                <a:solidFill>
                  <a:srgbClr val="000000"/>
                </a:solidFill>
                <a:latin typeface="Arial"/>
                <a:ea typeface="Arial"/>
                <a:cs typeface="Arial"/>
                <a:sym typeface="Arial"/>
              </a:rPr>
              <a:t>, not just final totals; </a:t>
            </a:r>
            <a:r>
              <a:rPr lang="en" sz="1100">
                <a:solidFill>
                  <a:srgbClr val="000000"/>
                </a:solidFill>
                <a:latin typeface="Arial"/>
                <a:ea typeface="Arial"/>
                <a:cs typeface="Arial"/>
                <a:sym typeface="Arial"/>
              </a:rPr>
              <a:t>Identify how quickly the system adapts to correct or incorrect information</a:t>
            </a:r>
            <a:endParaRPr sz="1100">
              <a:solidFill>
                <a:srgbClr val="000000"/>
              </a:solidFill>
              <a:latin typeface="Arial"/>
              <a:ea typeface="Arial"/>
              <a:cs typeface="Arial"/>
              <a:sym typeface="Arial"/>
            </a:endParaRPr>
          </a:p>
          <a:p>
            <a:pPr indent="0" lvl="0" marL="457200" rtl="0" algn="l">
              <a:lnSpc>
                <a:spcPct val="115000"/>
              </a:lnSpc>
              <a:spcBef>
                <a:spcPts val="0"/>
              </a:spcBef>
              <a:spcAft>
                <a:spcPts val="0"/>
              </a:spcAft>
              <a:buNone/>
            </a:pPr>
            <a:r>
              <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Compare how different agent types affect belief confidence and trust learning; Helps d</a:t>
            </a:r>
            <a:r>
              <a:rPr lang="en" sz="1100">
                <a:solidFill>
                  <a:srgbClr val="000000"/>
                </a:solidFill>
                <a:latin typeface="Arial"/>
                <a:ea typeface="Arial"/>
                <a:cs typeface="Arial"/>
                <a:sym typeface="Arial"/>
              </a:rPr>
              <a:t>etermine which agents cause the most confusion or error</a:t>
            </a:r>
            <a:endParaRPr sz="10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Expand the experiment into a fuller test of NARS reasoning under uncertainty</a:t>
            </a:r>
            <a:endParaRPr sz="1100">
              <a:solidFill>
                <a:srgbClr val="000000"/>
              </a:solidFill>
              <a:latin typeface="Arial"/>
              <a:ea typeface="Arial"/>
              <a:cs typeface="Arial"/>
              <a:sym typeface="Arial"/>
            </a:endParaRPr>
          </a:p>
          <a:p>
            <a:pPr indent="0" lvl="0" marL="457200" rtl="0" algn="l">
              <a:lnSpc>
                <a:spcPct val="115000"/>
              </a:lnSpc>
              <a:spcBef>
                <a:spcPts val="1200"/>
              </a:spcBef>
              <a:spcAft>
                <a:spcPts val="0"/>
              </a:spcAft>
              <a:buSzPts val="1300"/>
              <a:buNone/>
            </a:pPr>
            <a:r>
              <a:t/>
            </a:r>
            <a:endParaRPr sz="1100">
              <a:solidFill>
                <a:srgbClr val="000000"/>
              </a:solidFill>
              <a:latin typeface="Arial"/>
              <a:ea typeface="Arial"/>
              <a:cs typeface="Arial"/>
              <a:sym typeface="Arial"/>
            </a:endParaRPr>
          </a:p>
          <a:p>
            <a:pPr indent="0" lvl="0" marL="0" rtl="0" algn="l">
              <a:lnSpc>
                <a:spcPct val="115000"/>
              </a:lnSpc>
              <a:spcBef>
                <a:spcPts val="1200"/>
              </a:spcBef>
              <a:spcAft>
                <a:spcPts val="1200"/>
              </a:spcAft>
              <a:buSzPts val="1300"/>
              <a:buNone/>
            </a:pPr>
            <a:r>
              <a:t/>
            </a:r>
            <a:endParaRPr/>
          </a:p>
        </p:txBody>
      </p:sp>
      <p:sp>
        <p:nvSpPr>
          <p:cNvPr id="166" name="Google Shape;166;p26"/>
          <p:cNvSpPr txBox="1"/>
          <p:nvPr>
            <p:ph type="title"/>
          </p:nvPr>
        </p:nvSpPr>
        <p:spPr>
          <a:xfrm>
            <a:off x="311300" y="500925"/>
            <a:ext cx="3704400" cy="20496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
              <a:t>Future tasks</a:t>
            </a:r>
            <a:endParaRPr/>
          </a:p>
        </p:txBody>
      </p:sp>
      <p:sp>
        <p:nvSpPr>
          <p:cNvPr id="167" name="Google Shape;167;p26"/>
          <p:cNvSpPr txBox="1"/>
          <p:nvPr>
            <p:ph idx="1" type="subTitle"/>
          </p:nvPr>
        </p:nvSpPr>
        <p:spPr>
          <a:xfrm>
            <a:off x="304800" y="2626725"/>
            <a:ext cx="3704400" cy="926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1200"/>
              </a:spcBef>
              <a:spcAft>
                <a:spcPts val="1200"/>
              </a:spcAft>
              <a:buSzPts val="1600"/>
              <a:buNone/>
            </a:pPr>
            <a:r>
              <a:rPr lang="en" sz="1100">
                <a:solidFill>
                  <a:schemeClr val="lt1"/>
                </a:solidFill>
                <a:latin typeface="Arial"/>
                <a:ea typeface="Arial"/>
                <a:cs typeface="Arial"/>
                <a:sym typeface="Arial"/>
              </a:rPr>
              <a:t>* Note that this project was a </a:t>
            </a:r>
            <a:r>
              <a:rPr b="1" lang="en" sz="1100" u="sng">
                <a:solidFill>
                  <a:schemeClr val="lt1"/>
                </a:solidFill>
                <a:latin typeface="Arial"/>
                <a:ea typeface="Arial"/>
                <a:cs typeface="Arial"/>
                <a:sym typeface="Arial"/>
              </a:rPr>
              <a:t>first attempt</a:t>
            </a:r>
            <a:r>
              <a:rPr lang="en" sz="1100" u="sng">
                <a:solidFill>
                  <a:schemeClr val="lt1"/>
                </a:solidFill>
                <a:latin typeface="Arial"/>
                <a:ea typeface="Arial"/>
                <a:cs typeface="Arial"/>
                <a:sym typeface="Arial"/>
              </a:rPr>
              <a:t> </a:t>
            </a:r>
            <a:r>
              <a:rPr lang="en" sz="1100">
                <a:solidFill>
                  <a:schemeClr val="lt1"/>
                </a:solidFill>
                <a:latin typeface="Arial"/>
                <a:ea typeface="Arial"/>
                <a:cs typeface="Arial"/>
                <a:sym typeface="Arial"/>
              </a:rPr>
              <a:t>and the results shown today may likely change in my final implemented system</a:t>
            </a:r>
            <a:endParaRPr>
              <a:solidFill>
                <a:schemeClr val="lt1"/>
              </a:solidFill>
            </a:endParaRPr>
          </a:p>
        </p:txBody>
      </p:sp>
      <p:pic>
        <p:nvPicPr>
          <p:cNvPr descr="/sessions/friendly-magical-bohr/temple_logo.png" id="168" name="Google Shape;168;p26"/>
          <p:cNvPicPr preferRelativeResize="0"/>
          <p:nvPr/>
        </p:nvPicPr>
        <p:blipFill rotWithShape="1">
          <a:blip r:embed="rId3">
            <a:alphaModFix/>
          </a:blip>
          <a:srcRect b="0" l="0" r="0" t="0"/>
          <a:stretch/>
        </p:blipFill>
        <p:spPr>
          <a:xfrm>
            <a:off x="7498080" y="137160"/>
            <a:ext cx="1463040" cy="3291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